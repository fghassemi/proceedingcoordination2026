
<file path=[Content_Types].xml><?xml version="1.0" encoding="utf-8"?>
<Types xmlns="http://schemas.openxmlformats.org/package/2006/content-types">
  <Default ContentType="application/xml" Extension="xml"/>
  <Default ContentType="application/octet-stream" Extension="xlsx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drawingml.chart+xml" PartName="/ppt/charts/chart1.xml"/>
  <Override ContentType="application/vnd.openxmlformats-officedocument.presentationml.slide+xml" PartName="/ppt/slides/slide3.xml"/>
  <Override ContentType="application/vnd.openxmlformats-officedocument.drawingml.chart+xml" PartName="/ppt/charts/chart2.xml"/>
  <Override ContentType="application/vnd.openxmlformats-officedocument.presentationml.slide+xml" PartName="/ppt/slides/slide4.xml"/>
  <Override ContentType="application/vnd.openxmlformats-officedocument.drawingml.chart+xml" PartName="/ppt/charts/chart3.xml"/>
  <Override ContentType="application/vnd.openxmlformats-officedocument.presentationml.slide+xml" PartName="/ppt/slides/slide5.xml"/>
  <Override ContentType="application/vnd.openxmlformats-officedocument.drawingml.chart+xml" PartName="/ppt/charts/chart4.xml"/>
  <Override ContentType="application/vnd.openxmlformats-officedocument.presentationml.slide+xml" PartName="/ppt/slides/slide6.xml"/>
  <Override ContentType="application/vnd.openxmlformats-officedocument.drawingml.chart+xml" PartName="/ppt/charts/chart5.xml"/>
  <Override ContentType="application/vnd.openxmlformats-officedocument.presentationml.slide+xml" PartName="/ppt/slides/slide7.xml"/>
  <Override ContentType="application/vnd.openxmlformats-officedocument.drawingml.chart+xml" PartName="/ppt/charts/chart6.xml"/>
</Types>
</file>

<file path=_rels/.rels><?xml version="1.0" encoding="UTF-8" standalone="yes"?>
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saveSubsetFonts="1" strictFirstAndLastChars="0">
  <p:sldMasterIdLst>
    <p:sldMasterId id="2147483659" r:id="rId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/>
</file>

<file path=ppt/viewProps.xml><?xml version="1.0" encoding="utf-8"?>
<p:viewPr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showComments="0">
  <p:normalViewPr horzBarState="maximized">
    <p:restoredLeft sz="15610"/>
    <p:restoredTop sz="94629"/>
  </p:normalViewPr>
  <p:slideViewPr>
    <p:cSldViewPr snapToGrid="0" snapToObjects="1">
      <p:cViewPr varScale="1">
        <p:scale>
          <a:sx d="100" n="114"/>
          <a:sy d="100" n="114"/>
        </p:scale>
        <p:origin x="472" y="1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arget="theme/theme1.xml" Type="http://schemas.openxmlformats.org/officeDocument/2006/relationships/them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/Relationships>
</file>

<file path=ppt/charts/_rels/chart1.xml.rels><?xml version="1.0" encoding="UTF-8" standalone="yes"?>
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
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
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
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
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
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chart1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Reviews Per Submission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'Reviews Per Submission'!$B$1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'Reviews Per Submission'!$A$2:$A$3</c:f>
              <c:strCache>
                <c:ptCount val="2"/>
                <c:pt idx="0">
                  <c:v>2</c:v>
                </c:pt>
                <c:pt idx="1">
                  <c:v>3</c:v>
                </c:pt>
              </c:strCache>
            </c:strRef>
          </c:cat>
          <c:val>
            <c:numRef>
              <c:f>'Reviews Per Submission'!$B$2:$B$3</c:f>
              <c:numCache>
                <c:formatCode>General</c:formatCode>
                <c:ptCount val="2"/>
                <c:pt idx="0">
                  <c:v>11</c:v>
                </c:pt>
                <c:pt idx="1">
                  <c:v>2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Reviews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Submissions by Country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by Country'!$B$1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'Submissions by Country'!$A$2:$A$8</c:f>
              <c:strCache>
                <c:ptCount val="7"/>
                <c:pt idx="0">
                  <c:v>Italy</c:v>
                </c:pt>
                <c:pt idx="1">
                  <c:v>Portugal</c:v>
                </c:pt>
                <c:pt idx="2">
                  <c:v>Belgium</c:v>
                </c:pt>
                <c:pt idx="3">
                  <c:v>France</c:v>
                </c:pt>
                <c:pt idx="4">
                  <c:v>India</c:v>
                </c:pt>
                <c:pt idx="5">
                  <c:v>Germany</c:v>
                </c:pt>
                <c:pt idx="6">
                  <c:v>UK</c:v>
                </c:pt>
              </c:strCache>
            </c:strRef>
          </c:cat>
          <c:val>
            <c:numRef>
              <c:f>'Submissions by Country'!$B$2:$B$8</c:f>
              <c:numCache>
                <c:formatCode>General</c:formatCode>
                <c:ptCount val="7"/>
                <c:pt idx="0">
                  <c:v>7.7</c:v>
                </c:pt>
                <c:pt idx="1">
                  <c:v>1.3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0.7</c:v>
                </c:pt>
                <c:pt idx="6">
                  <c:v>0.3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Country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Keyphrases by Weight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'Keyphrases by Weight'!$B$1</c:f>
              <c:strCache>
                <c:ptCount val="1"/>
                <c:pt idx="0">
                  <c:v>Weight</c:v>
                </c:pt>
              </c:strCache>
            </c:strRef>
          </c:tx>
          <c:invertIfNegative val="1"/>
          <c:cat>
            <c:strRef>
              <c:f>'Keyphrases by Weight'!$A$2:$A$101</c:f>
              <c:strCache>
                <c:ptCount val="100"/>
                <c:pt idx="0">
                  <c:v>proof of delivery mechanized mailbox types</c:v>
                </c:pt>
                <c:pt idx="1">
                  <c:v>redundant orchestration synthesis for contract automata</c:v>
                </c:pt>
                <c:pt idx="2">
                  <c:v>pythonic framework for aggregate computing</c:v>
                </c:pt>
                <c:pt idx="3">
                  <c:v>aggregate indoor localisation</c:v>
                </c:pt>
                <c:pt idx="4">
                  <c:v>most permissive controller</c:v>
                </c:pt>
                <c:pt idx="5">
                  <c:v>controlled system</c:v>
                </c:pt>
                <c:pt idx="6">
                  <c:v>guard var</c:v>
                </c:pt>
                <c:pt idx="7">
                  <c:v>controllable and uncontrollable transitions</c:v>
                </c:pt>
                <c:pt idx="8">
                  <c:v>non bayesian cooperative localisation</c:v>
                </c:pt>
                <c:pt idx="9">
                  <c:v>aggregate program</c:v>
                </c:pt>
                <c:pt idx="10">
                  <c:v>permissive controller synthesis</c:v>
                </c:pt>
                <c:pt idx="11">
                  <c:v>distance vector based positioning</c:v>
                </c:pt>
                <c:pt idx="12">
                  <c:v>list of principal contract automata</c:v>
                </c:pt>
                <c:pt idx="13">
                  <c:v>type combinations</c:v>
                </c:pt>
                <c:pt idx="14">
                  <c:v>mailbox name</c:v>
                </c:pt>
                <c:pt idx="15">
                  <c:v>field calculus</c:v>
                </c:pt>
                <c:pt idx="16">
                  <c:v>self organizing federated learning</c:v>
                </c:pt>
                <c:pt idx="17">
                  <c:v>semi controllable transitions</c:v>
                </c:pt>
                <c:pt idx="18">
                  <c:v>splitting orchestration synthesis</c:v>
                </c:pt>
                <c:pt idx="19">
                  <c:v>pattern normal form</c:v>
                </c:pt>
                <c:pt idx="20">
                  <c:v>state space</c:v>
                </c:pt>
                <c:pt idx="21">
                  <c:v>k closest anchors</c:v>
                </c:pt>
                <c:pt idx="22">
                  <c:v>eclipse supervisory control engineering toolkit</c:v>
                </c:pt>
                <c:pt idx="23">
                  <c:v>ter beek</c:v>
                </c:pt>
                <c:pt idx="24">
                  <c:v>correction factor</c:v>
                </c:pt>
                <c:pt idx="25">
                  <c:v>estimated distances</c:v>
                </c:pt>
                <c:pt idx="26">
                  <c:v>Aggregate Programming</c:v>
                </c:pt>
                <c:pt idx="27">
                  <c:v>programming languages</c:v>
                </c:pt>
                <c:pt idx="28">
                  <c:v>base types</c:v>
                </c:pt>
                <c:pt idx="29">
                  <c:v>mailbox type</c:v>
                </c:pt>
                <c:pt idx="30">
                  <c:v>java jar</c:v>
                </c:pt>
                <c:pt idx="31">
                  <c:v>redundant formal methods</c:v>
                </c:pt>
                <c:pt idx="32">
                  <c:v>aggregate programs</c:v>
                </c:pt>
                <c:pt idx="33">
                  <c:v>neighboring devices</c:v>
                </c:pt>
                <c:pt idx="34">
                  <c:v>data science and machine learning</c:v>
                </c:pt>
                <c:pt idx="35">
                  <c:v>aggregate computing patterns self organizing</c:v>
                </c:pt>
                <c:pt idx="36">
                  <c:v>session types</c:v>
                </c:pt>
                <c:pt idx="37">
                  <c:v>type combination</c:v>
                </c:pt>
                <c:pt idx="38">
                  <c:v>environment subtyping</c:v>
                </c:pt>
                <c:pt idx="39">
                  <c:v>mailbox configurations</c:v>
                </c:pt>
                <c:pt idx="40">
                  <c:v>semantics of mailbox types</c:v>
                </c:pt>
                <c:pt idx="41">
                  <c:v>described by pattern</c:v>
                </c:pt>
                <c:pt idx="42">
                  <c:v>self-stabilisation</c:v>
                </c:pt>
                <c:pt idx="43">
                  <c:v>anchor nodes</c:v>
                </c:pt>
                <c:pt idx="44">
                  <c:v>Distance Estimates</c:v>
                </c:pt>
                <c:pt idx="45">
                  <c:v>return dist a pos</c:v>
                </c:pt>
                <c:pt idx="46">
                  <c:v>non intel macs replace</c:v>
                </c:pt>
                <c:pt idx="47">
                  <c:v>special delivery programming with mailbox types</c:v>
                </c:pt>
                <c:pt idx="48">
                  <c:v>field calculus operators</c:v>
                </c:pt>
                <c:pt idx="49">
                  <c:v>contract automaton</c:v>
                </c:pt>
                <c:pt idx="50">
                  <c:v>ping var</c:v>
                </c:pt>
                <c:pt idx="51">
                  <c:v>local state</c:v>
                </c:pt>
                <c:pt idx="52">
                  <c:v>common aggregate programming patterns</c:v>
                </c:pt>
                <c:pt idx="53">
                  <c:v>multi hop localization and time synchronization</c:v>
                </c:pt>
                <c:pt idx="54">
                  <c:v>init update exchange init n val</c:v>
                </c:pt>
                <c:pt idx="55">
                  <c:v>finite state automata</c:v>
                </c:pt>
                <c:pt idx="56">
                  <c:v>computing computing computing</c:v>
                </c:pt>
                <c:pt idx="57">
                  <c:v>composition and orchestration</c:v>
                </c:pt>
                <c:pt idx="58">
                  <c:v>contract automata composition</c:v>
                </c:pt>
                <c:pt idx="59">
                  <c:v>redundant orchestration synthesis</c:v>
                </c:pt>
                <c:pt idx="60">
                  <c:v>plant and supervisor</c:v>
                </c:pt>
                <c:pt idx="61">
                  <c:v>typing rules</c:v>
                </c:pt>
                <c:pt idx="62">
                  <c:v>Pseudo code</c:v>
                </c:pt>
                <c:pt idx="63">
                  <c:v>cooperative localization</c:v>
                </c:pt>
                <c:pt idx="64">
                  <c:v>commutativity and associativity</c:v>
                </c:pt>
                <c:pt idx="65">
                  <c:v>mailbox with type</c:v>
                </c:pt>
                <c:pt idx="66">
                  <c:v>pong receive pong</c:v>
                </c:pt>
                <c:pt idx="67">
                  <c:v>Computer Science</c:v>
                </c:pt>
                <c:pt idx="68">
                  <c:v>composed automaton</c:v>
                </c:pt>
                <c:pt idx="69">
                  <c:v>orchestration automaton</c:v>
                </c:pt>
                <c:pt idx="70">
                  <c:v>computing update computing computing</c:v>
                </c:pt>
                <c:pt idx="71">
                  <c:v>Internet of Things</c:v>
                </c:pt>
                <c:pt idx="72">
                  <c:v>r close anchors</c:v>
                </c:pt>
                <c:pt idx="73">
                  <c:v>asymptote for building</c:v>
                </c:pt>
                <c:pt idx="74">
                  <c:v>indoor localisation algorithms</c:v>
                </c:pt>
                <c:pt idx="75">
                  <c:v>experiments indoor localization</c:v>
                </c:pt>
                <c:pt idx="76">
                  <c:v>experiments indoor localisation</c:v>
                </c:pt>
                <c:pt idx="77">
                  <c:v>multiparty asynchronous session types</c:v>
                </c:pt>
                <c:pt idx="78">
                  <c:v>mailbox containing</c:v>
                </c:pt>
                <c:pt idx="79">
                  <c:v>mailbox with mailbox type</c:v>
                </c:pt>
                <c:pt idx="80">
                  <c:v>pat s operational semantics</c:v>
                </c:pt>
                <c:pt idx="81">
                  <c:v>typing rules for section</c:v>
                </c:pt>
                <c:pt idx="82">
                  <c:v>problem of cooperative indoor localisation</c:v>
                </c:pt>
                <c:pt idx="83">
                  <c:v>european joint conferences on theory and practice</c:v>
                </c:pt>
                <c:pt idx="84">
                  <c:v>leader election</c:v>
                </c:pt>
                <c:pt idx="85">
                  <c:v>computational fields</c:v>
                </c:pt>
                <c:pt idx="86">
                  <c:v>Target Device</c:v>
                </c:pt>
                <c:pt idx="87">
                  <c:v>coordination regions</c:v>
                </c:pt>
                <c:pt idx="88">
                  <c:v>Mailbox Types</c:v>
                </c:pt>
                <c:pt idx="89">
                  <c:v>type system</c:v>
                </c:pt>
                <c:pt idx="90">
                  <c:v>Design and Implementation</c:v>
                </c:pt>
                <c:pt idx="91">
                  <c:v>Field-based coordination</c:v>
                </c:pt>
                <c:pt idx="92">
                  <c:v>set value value</c:v>
                </c:pt>
                <c:pt idx="93">
                  <c:v>state across rounds</c:v>
                </c:pt>
                <c:pt idx="94">
                  <c:v>sub module implements</c:v>
                </c:pt>
                <c:pt idx="95">
                  <c:v>py poetry run</c:v>
                </c:pt>
                <c:pt idx="96">
                  <c:v>Multi-Agent Reinforcement Learning Environments</c:v>
                </c:pt>
                <c:pt idx="97">
                  <c:v>autonomic computing and self organizing</c:v>
                </c:pt>
                <c:pt idx="98">
                  <c:v>potential distance to leader distances</c:v>
                </c:pt>
                <c:pt idx="99">
                  <c:v>aggregate def main distances neighbors</c:v>
                </c:pt>
              </c:strCache>
            </c:strRef>
          </c:cat>
          <c:val>
            <c:numRef>
              <c:f>'Keyphrases by Weight'!$B$2:$B$101</c:f>
              <c:numCache>
                <c:formatCode>General</c:formatCode>
                <c:ptCount val="100"/>
                <c:pt idx="0">
                  <c:v>1000</c:v>
                </c:pt>
                <c:pt idx="1">
                  <c:v>898</c:v>
                </c:pt>
                <c:pt idx="2">
                  <c:v>748</c:v>
                </c:pt>
                <c:pt idx="3">
                  <c:v>624</c:v>
                </c:pt>
                <c:pt idx="4">
                  <c:v>550</c:v>
                </c:pt>
                <c:pt idx="5">
                  <c:v>492</c:v>
                </c:pt>
                <c:pt idx="6">
                  <c:v>471</c:v>
                </c:pt>
                <c:pt idx="7">
                  <c:v>463</c:v>
                </c:pt>
                <c:pt idx="8">
                  <c:v>431</c:v>
                </c:pt>
                <c:pt idx="9">
                  <c:v>387</c:v>
                </c:pt>
                <c:pt idx="10">
                  <c:v>365</c:v>
                </c:pt>
                <c:pt idx="11">
                  <c:v>359</c:v>
                </c:pt>
                <c:pt idx="12">
                  <c:v>336</c:v>
                </c:pt>
                <c:pt idx="13">
                  <c:v>332</c:v>
                </c:pt>
                <c:pt idx="14">
                  <c:v>332</c:v>
                </c:pt>
                <c:pt idx="15">
                  <c:v>322</c:v>
                </c:pt>
                <c:pt idx="16">
                  <c:v>322</c:v>
                </c:pt>
                <c:pt idx="17">
                  <c:v>319</c:v>
                </c:pt>
                <c:pt idx="18">
                  <c:v>319</c:v>
                </c:pt>
                <c:pt idx="19">
                  <c:v>305</c:v>
                </c:pt>
                <c:pt idx="20">
                  <c:v>290</c:v>
                </c:pt>
                <c:pt idx="21">
                  <c:v>283</c:v>
                </c:pt>
                <c:pt idx="22">
                  <c:v>266</c:v>
                </c:pt>
                <c:pt idx="23">
                  <c:v>261</c:v>
                </c:pt>
                <c:pt idx="24">
                  <c:v>251</c:v>
                </c:pt>
                <c:pt idx="25">
                  <c:v>251</c:v>
                </c:pt>
                <c:pt idx="26">
                  <c:v>251</c:v>
                </c:pt>
                <c:pt idx="27">
                  <c:v>249</c:v>
                </c:pt>
                <c:pt idx="28">
                  <c:v>249</c:v>
                </c:pt>
                <c:pt idx="29">
                  <c:v>249</c:v>
                </c:pt>
                <c:pt idx="30">
                  <c:v>232</c:v>
                </c:pt>
                <c:pt idx="31">
                  <c:v>229</c:v>
                </c:pt>
                <c:pt idx="32">
                  <c:v>226</c:v>
                </c:pt>
                <c:pt idx="33">
                  <c:v>226</c:v>
                </c:pt>
                <c:pt idx="34">
                  <c:v>222</c:v>
                </c:pt>
                <c:pt idx="35">
                  <c:v>222</c:v>
                </c:pt>
                <c:pt idx="36">
                  <c:v>222</c:v>
                </c:pt>
                <c:pt idx="37">
                  <c:v>222</c:v>
                </c:pt>
                <c:pt idx="38">
                  <c:v>222</c:v>
                </c:pt>
                <c:pt idx="39">
                  <c:v>222</c:v>
                </c:pt>
                <c:pt idx="40">
                  <c:v>222</c:v>
                </c:pt>
                <c:pt idx="41">
                  <c:v>219</c:v>
                </c:pt>
                <c:pt idx="42">
                  <c:v>215</c:v>
                </c:pt>
                <c:pt idx="43">
                  <c:v>215</c:v>
                </c:pt>
                <c:pt idx="44">
                  <c:v>215</c:v>
                </c:pt>
                <c:pt idx="45">
                  <c:v>215</c:v>
                </c:pt>
                <c:pt idx="46">
                  <c:v>215</c:v>
                </c:pt>
                <c:pt idx="47">
                  <c:v>213</c:v>
                </c:pt>
                <c:pt idx="48">
                  <c:v>203</c:v>
                </c:pt>
                <c:pt idx="49">
                  <c:v>203</c:v>
                </c:pt>
                <c:pt idx="50">
                  <c:v>194</c:v>
                </c:pt>
                <c:pt idx="51">
                  <c:v>193</c:v>
                </c:pt>
                <c:pt idx="52">
                  <c:v>193</c:v>
                </c:pt>
                <c:pt idx="53">
                  <c:v>183</c:v>
                </c:pt>
                <c:pt idx="54">
                  <c:v>183</c:v>
                </c:pt>
                <c:pt idx="55">
                  <c:v>182</c:v>
                </c:pt>
                <c:pt idx="56">
                  <c:v>182</c:v>
                </c:pt>
                <c:pt idx="57">
                  <c:v>182</c:v>
                </c:pt>
                <c:pt idx="58">
                  <c:v>182</c:v>
                </c:pt>
                <c:pt idx="59">
                  <c:v>182</c:v>
                </c:pt>
                <c:pt idx="60">
                  <c:v>182</c:v>
                </c:pt>
                <c:pt idx="61">
                  <c:v>180</c:v>
                </c:pt>
                <c:pt idx="62">
                  <c:v>179</c:v>
                </c:pt>
                <c:pt idx="63">
                  <c:v>179</c:v>
                </c:pt>
                <c:pt idx="64">
                  <c:v>175</c:v>
                </c:pt>
                <c:pt idx="65">
                  <c:v>175</c:v>
                </c:pt>
                <c:pt idx="66">
                  <c:v>175</c:v>
                </c:pt>
                <c:pt idx="67">
                  <c:v>174</c:v>
                </c:pt>
                <c:pt idx="68">
                  <c:v>174</c:v>
                </c:pt>
                <c:pt idx="69">
                  <c:v>174</c:v>
                </c:pt>
                <c:pt idx="70">
                  <c:v>174</c:v>
                </c:pt>
                <c:pt idx="71">
                  <c:v>169</c:v>
                </c:pt>
                <c:pt idx="72">
                  <c:v>169</c:v>
                </c:pt>
                <c:pt idx="73">
                  <c:v>169</c:v>
                </c:pt>
                <c:pt idx="74">
                  <c:v>169</c:v>
                </c:pt>
                <c:pt idx="75">
                  <c:v>169</c:v>
                </c:pt>
                <c:pt idx="76">
                  <c:v>169</c:v>
                </c:pt>
                <c:pt idx="77">
                  <c:v>166</c:v>
                </c:pt>
                <c:pt idx="78">
                  <c:v>166</c:v>
                </c:pt>
                <c:pt idx="79">
                  <c:v>166</c:v>
                </c:pt>
                <c:pt idx="80">
                  <c:v>166</c:v>
                </c:pt>
                <c:pt idx="81">
                  <c:v>166</c:v>
                </c:pt>
                <c:pt idx="82">
                  <c:v>165</c:v>
                </c:pt>
                <c:pt idx="83">
                  <c:v>162</c:v>
                </c:pt>
                <c:pt idx="84">
                  <c:v>161</c:v>
                </c:pt>
                <c:pt idx="85">
                  <c:v>161</c:v>
                </c:pt>
                <c:pt idx="86">
                  <c:v>161</c:v>
                </c:pt>
                <c:pt idx="87">
                  <c:v>161</c:v>
                </c:pt>
                <c:pt idx="88">
                  <c:v>155</c:v>
                </c:pt>
                <c:pt idx="89">
                  <c:v>152</c:v>
                </c:pt>
                <c:pt idx="90">
                  <c:v>152</c:v>
                </c:pt>
                <c:pt idx="91">
                  <c:v>152</c:v>
                </c:pt>
                <c:pt idx="92">
                  <c:v>152</c:v>
                </c:pt>
                <c:pt idx="93">
                  <c:v>152</c:v>
                </c:pt>
                <c:pt idx="94">
                  <c:v>152</c:v>
                </c:pt>
                <c:pt idx="95">
                  <c:v>152</c:v>
                </c:pt>
                <c:pt idx="96">
                  <c:v>148</c:v>
                </c:pt>
                <c:pt idx="97">
                  <c:v>148</c:v>
                </c:pt>
                <c:pt idx="98">
                  <c:v>148</c:v>
                </c:pt>
                <c:pt idx="99">
                  <c:v>148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Keyphrase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Weight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New Submissions by Date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by Date'!$B$1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'Submissions by Date'!$A$2:$A$7</c:f>
              <c:strCache>
                <c:ptCount val="6"/>
                <c:pt idx="0">
                  <c:v>Feb 23</c:v>
                </c:pt>
                <c:pt idx="1">
                  <c:v>Feb 24</c:v>
                </c:pt>
                <c:pt idx="2">
                  <c:v>Feb 25</c:v>
                </c:pt>
                <c:pt idx="3">
                  <c:v>Feb 26</c:v>
                </c:pt>
                <c:pt idx="4">
                  <c:v>Feb 27</c:v>
                </c:pt>
                <c:pt idx="5">
                  <c:v>Feb 28</c:v>
                </c:pt>
              </c:strCache>
            </c:strRef>
          </c:cat>
          <c:val>
            <c:numRef>
              <c:f>'Submissions by Date'!$B$2:$B$7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Date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Submissions Per Author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Per Author'!$B$1</c:f>
              <c:strCache>
                <c:ptCount val="1"/>
                <c:pt idx="0">
                  <c:v>Authors</c:v>
                </c:pt>
              </c:strCache>
            </c:strRef>
          </c:tx>
          <c:invertIfNegative val="1"/>
          <c:cat>
            <c:strRef>
              <c:f>'Submissions Per Author'!$A$2:$A$4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'Submissions Per Author'!$B$2:$B$4</c:f>
              <c:numCache>
                <c:formatCode>General</c:formatCode>
                <c:ptCount val="3"/>
                <c:pt idx="0">
                  <c:v>31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Authors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Authors Per Submission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'Authors Per Submission'!$B$1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'Authors Per Submission'!$A$2:$A$6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'Authors Per Submission'!$B$2:$B$6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4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Authors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92F3-DBDE-6343-844A-EDD28C26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7674-D88A-314C-A878-DA89E991A7D2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11" Target="../slideLayouts/slideLayout11.xml" Type="http://schemas.openxmlformats.org/officeDocument/2006/relationships/slideLayout"/><Relationship Id="rId10" Target="../slideLayouts/slideLayout10.xml" Type="http://schemas.openxmlformats.org/officeDocument/2006/relationships/slideLayout"/><Relationship Id="rId12" Target="../theme/theme1.xml" Type="http://schemas.openxmlformats.org/officeDocument/2006/relationships/theme"/><Relationship Id="rId9" Target="../slideLayouts/slideLayout9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F96CE-E070-7C4F-B25F-AEA29CCDF0F7}" type="datetimeFigureOut">
              <a:rPr lang="en-US" smtClean="0"/>
              <a:t>10/18/19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3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4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3.xml" Type="http://schemas.openxmlformats.org/officeDocument/2006/relationships/chart"/></Relationships>
</file>

<file path=ppt/slides/_rels/slide5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4.xml" Type="http://schemas.openxmlformats.org/officeDocument/2006/relationships/chart"/></Relationships>
</file>

<file path=ppt/slides/_rels/slide6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5.xml" Type="http://schemas.openxmlformats.org/officeDocument/2006/relationships/chart"/></Relationships>
</file>

<file path=ppt/slides/_rels/slide7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6.xml" Type="http://schemas.openxmlformats.org/officeDocument/2006/relationships/chart"/></Relationships>
</file>

<file path=ppt/slides/slide1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asyChair Shape;54;p13"/>
          <p:cNvSpPr txBox="1"/>
          <p:nvPr>
            <p:ph idx="0" type="subTitle"/>
          </p:nvPr>
        </p:nvSpPr>
        <p:spPr/>
        <p:txBody>
          <a:bodyPr anchor="b" anchorCtr="0" bIns="91425" lIns="91425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</a:t>
            </a:r>
            <a:endParaRPr/>
          </a:p>
        </p:txBody>
      </p:sp>
      <p:sp>
        <p:nvSpPr>
          <p:cNvPr id="55" name="EasyChair Shape;55;p13"/>
          <p:cNvSpPr txBox="1"/>
          <p:nvPr>
            <p:ph idx="1" type="subTitle"/>
          </p:nvPr>
        </p:nvSpPr>
        <p:spPr/>
        <p:txBody>
          <a:bodyPr anchor="t" anchorCtr="0" bIns="91425" lIns="91425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by EasyChair for COORDINATION 2026 (COORDINATION 2026 Artefacts Track)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Chart 56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Chart 57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Chart 58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Chart 59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Chart 60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61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0F0502020204030204"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