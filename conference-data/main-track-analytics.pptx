
<file path=[Content_Types].xml><?xml version="1.0" encoding="utf-8"?>
<Types xmlns="http://schemas.openxmlformats.org/package/2006/content-types">
  <Default ContentType="application/xml" Extension="xml"/>
  <Default ContentType="application/octet-stream" Extension="xlsx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drawingml.chart+xml" PartName="/ppt/charts/chart1.xml"/>
  <Override ContentType="application/vnd.openxmlformats-officedocument.presentationml.slide+xml" PartName="/ppt/slides/slide3.xml"/>
  <Override ContentType="application/vnd.openxmlformats-officedocument.drawingml.chart+xml" PartName="/ppt/charts/chart2.xml"/>
  <Override ContentType="application/vnd.openxmlformats-officedocument.presentationml.slide+xml" PartName="/ppt/slides/slide4.xml"/>
  <Override ContentType="application/vnd.openxmlformats-officedocument.drawingml.chart+xml" PartName="/ppt/charts/chart3.xml"/>
  <Override ContentType="application/vnd.openxmlformats-officedocument.presentationml.slide+xml" PartName="/ppt/slides/slide5.xml"/>
  <Override ContentType="application/vnd.openxmlformats-officedocument.drawingml.chart+xml" PartName="/ppt/charts/chart4.xml"/>
  <Override ContentType="application/vnd.openxmlformats-officedocument.presentationml.slide+xml" PartName="/ppt/slides/slide6.xml"/>
  <Override ContentType="application/vnd.openxmlformats-officedocument.drawingml.chart+xml" PartName="/ppt/charts/chart5.xml"/>
  <Override ContentType="application/vnd.openxmlformats-officedocument.presentationml.slide+xml" PartName="/ppt/slides/slide7.xml"/>
  <Override ContentType="application/vnd.openxmlformats-officedocument.drawingml.chart+xml" PartName="/ppt/charts/chart6.xml"/>
  <Override ContentType="application/vnd.openxmlformats-officedocument.presentationml.slide+xml" PartName="/ppt/slides/slide8.xml"/>
  <Override ContentType="application/vnd.openxmlformats-officedocument.drawingml.chart+xml" PartName="/ppt/charts/chart7.xml"/>
  <Override ContentType="application/vnd.openxmlformats-officedocument.presentationml.slide+xml" PartName="/ppt/slides/slide9.xml"/>
  <Override ContentType="application/vnd.openxmlformats-officedocument.drawingml.chart+xml" PartName="/ppt/charts/chart8.xml"/>
</Types>
</file>

<file path=_rels/.rels><?xml version="1.0" encoding="UTF-8" standalone="yes"?>
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saveSubsetFonts="1" strictFirstAndLastChars="0">
  <p:sldMasterIdLst>
    <p:sldMasterId id="2147483659" r:id="rId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/>
</file>

<file path=ppt/viewProps.xml><?xml version="1.0" encoding="utf-8"?>
<p:viewPr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showComments="0">
  <p:normalViewPr horzBarState="maximized">
    <p:restoredLeft sz="15610"/>
    <p:restoredTop sz="94629"/>
  </p:normalViewPr>
  <p:slideViewPr>
    <p:cSldViewPr snapToGrid="0" snapToObjects="1">
      <p:cViewPr varScale="1">
        <p:scale>
          <a:sx d="100" n="114"/>
          <a:sy d="100" n="114"/>
        </p:scale>
        <p:origin x="472" y="18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arget="theme/theme1.xml" Type="http://schemas.openxmlformats.org/officeDocument/2006/relationships/them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/Relationships>
</file>

<file path=ppt/charts/_rels/chart1.xml.rels><?xml version="1.0" encoding="UTF-8" standalone="yes"?>
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
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
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
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
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
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_rels/chart7.xml.rels><?xml version="1.0" encoding="UTF-8" standalone="yes"?>
<Relationships xmlns="http://schemas.openxmlformats.org/package/2006/relationships"><Relationship Id="rId1" Target="../embeddings/Microsoft_Excel_Worksheet7.xlsx" Type="http://schemas.openxmlformats.org/officeDocument/2006/relationships/package"/></Relationships>
</file>

<file path=ppt/charts/_rels/chart8.xml.rels><?xml version="1.0" encoding="UTF-8" standalone="yes"?>
<Relationships xmlns="http://schemas.openxmlformats.org/package/2006/relationships"><Relationship Id="rId1" Target="../embeddings/Microsoft_Excel_Worksheet8.xlsx" Type="http://schemas.openxmlformats.org/officeDocument/2006/relationships/package"/></Relationships>
</file>

<file path=ppt/charts/chart1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Reviews Per Submission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'Reviews Per Submission'!$B$1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'Reviews Per Submission'!$A$2:$A$4</c:f>
              <c:strCach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strCache>
            </c:strRef>
          </c:cat>
          <c:val>
            <c:numRef>
              <c:f>'Reviews Per Submission'!$B$2:$B$4</c:f>
              <c:numCache>
                <c:formatCode>General</c:formatCode>
                <c:ptCount val="3"/>
                <c:pt idx="0">
                  <c:v>2</c:v>
                </c:pt>
                <c:pt idx="1">
                  <c:v>24</c:v>
                </c:pt>
                <c:pt idx="2">
                  <c:v>2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Reviews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Submissions and Acceptance Rate by Country</a:t>
            </a:r>
          </a:p>
        </c:rich>
      </c:tx>
      <c:overlay val="0"/>
    </c:title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'Acceptance Rate by Country'!$B$1</c:f>
              <c:strCache>
                <c:ptCount val="1"/>
                <c:pt idx="0">
                  <c:v>Accepted</c:v>
                </c:pt>
              </c:strCache>
            </c:strRef>
          </c:tx>
          <c:invertIfNegative val="1"/>
          <c:cat>
            <c:strRef>
              <c:f>'Acceptance Rate by Country'!$A$2:$A$14</c:f>
              <c:strCache>
                <c:ptCount val="13"/>
                <c:pt idx="0">
                  <c:v>Italy</c:v>
                </c:pt>
                <c:pt idx="1">
                  <c:v>France</c:v>
                </c:pt>
                <c:pt idx="2">
                  <c:v>India</c:v>
                </c:pt>
                <c:pt idx="3">
                  <c:v>UK</c:v>
                </c:pt>
                <c:pt idx="4">
                  <c:v>Portugal</c:v>
                </c:pt>
                <c:pt idx="5">
                  <c:v>Germany</c:v>
                </c:pt>
                <c:pt idx="6">
                  <c:v>Belgium</c:v>
                </c:pt>
                <c:pt idx="7">
                  <c:v>China</c:v>
                </c:pt>
                <c:pt idx="8">
                  <c:v>Denmark</c:v>
                </c:pt>
                <c:pt idx="9">
                  <c:v>United States</c:v>
                </c:pt>
                <c:pt idx="10">
                  <c:v>Sweden</c:v>
                </c:pt>
                <c:pt idx="11">
                  <c:v>Argentina</c:v>
                </c:pt>
                <c:pt idx="12">
                  <c:v>Japan</c:v>
                </c:pt>
              </c:strCache>
            </c:strRef>
          </c:cat>
          <c:val>
            <c:numRef>
              <c:f>'Acceptance Rate by Country'!$B$2:$B$14</c:f>
              <c:numCache>
                <c:formatCode>General</c:formatCode>
                <c:ptCount val="13"/>
                <c:pt idx="0">
                  <c:v>6.8</c:v>
                </c:pt>
                <c:pt idx="1">
                  <c:v>2.0</c:v>
                </c:pt>
                <c:pt idx="2">
                  <c:v>0.0</c:v>
                </c:pt>
                <c:pt idx="3">
                  <c:v>0.3</c:v>
                </c:pt>
                <c:pt idx="4">
                  <c:v>0.0</c:v>
                </c:pt>
                <c:pt idx="5">
                  <c:v>1.2</c:v>
                </c:pt>
                <c:pt idx="6">
                  <c:v>1.0</c:v>
                </c:pt>
                <c:pt idx="7">
                  <c:v>0.0</c:v>
                </c:pt>
                <c:pt idx="8">
                  <c:v>0.0</c:v>
                </c:pt>
                <c:pt idx="9">
                  <c:v>1.0</c:v>
                </c:pt>
                <c:pt idx="10">
                  <c:v>0.0</c:v>
                </c:pt>
                <c:pt idx="11">
                  <c:v>0.7</c:v>
                </c:pt>
                <c:pt idx="1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'Acceptance Rate by Country'!$C$1</c:f>
              <c:strCache>
                <c:ptCount val="1"/>
                <c:pt idx="0">
                  <c:v>Rejected</c:v>
                </c:pt>
              </c:strCache>
            </c:strRef>
          </c:tx>
          <c:invertIfNegative val="1"/>
          <c:cat>
            <c:strRef>
              <c:f>'Acceptance Rate by Country'!$A$2:$A$14</c:f>
              <c:strCache>
                <c:ptCount val="13"/>
                <c:pt idx="0">
                  <c:v>Italy</c:v>
                </c:pt>
                <c:pt idx="1">
                  <c:v>France</c:v>
                </c:pt>
                <c:pt idx="2">
                  <c:v>India</c:v>
                </c:pt>
                <c:pt idx="3">
                  <c:v>UK</c:v>
                </c:pt>
                <c:pt idx="4">
                  <c:v>Portugal</c:v>
                </c:pt>
                <c:pt idx="5">
                  <c:v>Germany</c:v>
                </c:pt>
                <c:pt idx="6">
                  <c:v>Belgium</c:v>
                </c:pt>
                <c:pt idx="7">
                  <c:v>China</c:v>
                </c:pt>
                <c:pt idx="8">
                  <c:v>Denmark</c:v>
                </c:pt>
                <c:pt idx="9">
                  <c:v>United States</c:v>
                </c:pt>
                <c:pt idx="10">
                  <c:v>Sweden</c:v>
                </c:pt>
                <c:pt idx="11">
                  <c:v>Argentina</c:v>
                </c:pt>
                <c:pt idx="12">
                  <c:v>Japan</c:v>
                </c:pt>
              </c:strCache>
            </c:strRef>
          </c:cat>
          <c:val>
            <c:numRef>
              <c:f>'Acceptance Rate by Country'!$C$2:$C$14</c:f>
              <c:numCache>
                <c:formatCode>General</c:formatCode>
                <c:ptCount val="13"/>
                <c:pt idx="0">
                  <c:v>5.0</c:v>
                </c:pt>
                <c:pt idx="1">
                  <c:v>2.0</c:v>
                </c:pt>
                <c:pt idx="2">
                  <c:v>2.0</c:v>
                </c:pt>
                <c:pt idx="3">
                  <c:v>1.5</c:v>
                </c:pt>
                <c:pt idx="4">
                  <c:v>1.3</c:v>
                </c:pt>
                <c:pt idx="5">
                  <c:v>0.0</c:v>
                </c:pt>
                <c:pt idx="6">
                  <c:v>0.0</c:v>
                </c:pt>
                <c:pt idx="7">
                  <c:v>1.0</c:v>
                </c:pt>
                <c:pt idx="8">
                  <c:v>1.0</c:v>
                </c:pt>
                <c:pt idx="9">
                  <c:v>0.0</c:v>
                </c:pt>
                <c:pt idx="10">
                  <c:v>0.8</c:v>
                </c:pt>
                <c:pt idx="11">
                  <c:v>0.0</c:v>
                </c:pt>
                <c:pt idx="12">
                  <c:v>0.5</c:v>
                </c:pt>
              </c:numCache>
            </c:numRef>
          </c:val>
        </c:ser>
        <c:ser>
          <c:idx val="2"/>
          <c:order val="2"/>
          <c:tx>
            <c:strRef>
              <c:f>'Acceptance Rate by Country'!$E$1</c:f>
              <c:strCache>
                <c:ptCount val="1"/>
                <c:pt idx="0">
                  <c:v>Rate</c:v>
                </c:pt>
              </c:strCache>
            </c:strRef>
          </c:tx>
          <c:invertIfNegative val="1"/>
          <c:cat>
            <c:strRef>
              <c:f>'Acceptance Rate by Country'!$A$2:$A$14</c:f>
              <c:strCache>
                <c:ptCount val="13"/>
                <c:pt idx="0">
                  <c:v>Italy</c:v>
                </c:pt>
                <c:pt idx="1">
                  <c:v>France</c:v>
                </c:pt>
                <c:pt idx="2">
                  <c:v>India</c:v>
                </c:pt>
                <c:pt idx="3">
                  <c:v>UK</c:v>
                </c:pt>
                <c:pt idx="4">
                  <c:v>Portugal</c:v>
                </c:pt>
                <c:pt idx="5">
                  <c:v>Germany</c:v>
                </c:pt>
                <c:pt idx="6">
                  <c:v>Belgium</c:v>
                </c:pt>
                <c:pt idx="7">
                  <c:v>China</c:v>
                </c:pt>
                <c:pt idx="8">
                  <c:v>Denmark</c:v>
                </c:pt>
                <c:pt idx="9">
                  <c:v>United States</c:v>
                </c:pt>
                <c:pt idx="10">
                  <c:v>Sweden</c:v>
                </c:pt>
                <c:pt idx="11">
                  <c:v>Argentina</c:v>
                </c:pt>
                <c:pt idx="12">
                  <c:v>Japan</c:v>
                </c:pt>
              </c:strCache>
            </c:strRef>
          </c:cat>
          <c:val>
            <c:numRef>
              <c:f>'Acceptance Rate by Country'!$CV$2:$CV$14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dLbls>
            <c:dLbl>
              <c:idx val="0"/>
              <c:tx>
                <c:strRef>
                  <c:f>'Acceptance Rate by Country'!$E$2</c:f>
                  <c:strCache>
                    <c:ptCount val="1"/>
                    <c:pt idx="0">
                      <c:v>0.58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strRef>
                  <c:f>'Acceptance Rate by Country'!$E$3</c:f>
                  <c:strCache>
                    <c:ptCount val="1"/>
                    <c:pt idx="0">
                      <c:v>0.50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strRef>
                  <c:f>'Acceptance Rate by Country'!$E$4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strRef>
                  <c:f>'Acceptance Rate by Country'!$E$5</c:f>
                  <c:strCache>
                    <c:ptCount val="1"/>
                    <c:pt idx="0">
                      <c:v>0.17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strRef>
                  <c:f>'Acceptance Rate by Country'!$E$6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strRef>
                  <c:f>'Acceptance Rate by Country'!$E$7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strRef>
                  <c:f>'Acceptance Rate by Country'!$E$8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strRef>
                  <c:f>'Acceptance Rate by Country'!$E$9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strRef>
                  <c:f>'Acceptance Rate by Country'!$E$10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strRef>
                  <c:f>'Acceptance Rate by Country'!$E$11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strRef>
                  <c:f>'Acceptance Rate by Country'!$E$12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strRef>
                  <c:f>'Acceptance Rate by Country'!$E$13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strRef>
                  <c:f>'Acceptance Rate by Country'!$E$14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60298527"/>
        <c:axId val="1"/>
      </c:barChart>
      <c:catAx>
        <c:axId val="660298527"/>
        <c:scaling>
          <c:orientation val="minMax"/>
        </c:scaling>
        <c:delete val="0"/>
        <c:axPos val="l"/>
        <c:crossAx val="1"/>
        <c:title>
          <c:tx>
            <c:rich>
              <a:bodyPr/>
              <a:lstStyle/>
              <a:p>
                <a:pPr lvl="0">
                  <a:defRPr b="0"/>
                </a:pPr>
                <a:r>
                  <a:t>Country</a:t>
                </a:r>
              </a:p>
            </c:rich>
          </c:tx>
          <c:overlay val="0"/>
        </c:title>
      </c:catAx>
      <c:valAx>
        <c:axId val="1"/>
        <c:scaling>
          <c:orientation val="minMax"/>
        </c:scaling>
        <c:delete val="0"/>
        <c:axPos val="b"/>
        <c:majorGridlines/>
        <c:crossAx val="660298527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legend>
      <c:legendPos val="r"/>
      <c:overlay val="0"/>
    </c:legend>
    <c:showDLblsOverMax val="1"/>
  </c:chart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Submissions by Country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'Submissions by Country'!$B$1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'Submissions by Country'!$A$2:$A$14</c:f>
              <c:strCache>
                <c:ptCount val="13"/>
                <c:pt idx="0">
                  <c:v>Italy</c:v>
                </c:pt>
                <c:pt idx="1">
                  <c:v>France</c:v>
                </c:pt>
                <c:pt idx="2">
                  <c:v>India</c:v>
                </c:pt>
                <c:pt idx="3">
                  <c:v>UK</c:v>
                </c:pt>
                <c:pt idx="4">
                  <c:v>Portugal</c:v>
                </c:pt>
                <c:pt idx="5">
                  <c:v>Germany</c:v>
                </c:pt>
                <c:pt idx="6">
                  <c:v>Belgium</c:v>
                </c:pt>
                <c:pt idx="7">
                  <c:v>China</c:v>
                </c:pt>
                <c:pt idx="8">
                  <c:v>Denmark</c:v>
                </c:pt>
                <c:pt idx="9">
                  <c:v>United States</c:v>
                </c:pt>
                <c:pt idx="10">
                  <c:v>Sweden</c:v>
                </c:pt>
                <c:pt idx="11">
                  <c:v>Argentina</c:v>
                </c:pt>
                <c:pt idx="12">
                  <c:v>Japan</c:v>
                </c:pt>
              </c:strCache>
            </c:strRef>
          </c:cat>
          <c:val>
            <c:numRef>
              <c:f>'Submissions by Country'!$B$2:$B$14</c:f>
              <c:numCache>
                <c:formatCode>General</c:formatCode>
                <c:ptCount val="13"/>
                <c:pt idx="0">
                  <c:v>11.8</c:v>
                </c:pt>
                <c:pt idx="1">
                  <c:v>4.0</c:v>
                </c:pt>
                <c:pt idx="2">
                  <c:v>2.0</c:v>
                </c:pt>
                <c:pt idx="3">
                  <c:v>1.8</c:v>
                </c:pt>
                <c:pt idx="4">
                  <c:v>1.3</c:v>
                </c:pt>
                <c:pt idx="5">
                  <c:v>1.2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0.8</c:v>
                </c:pt>
                <c:pt idx="11">
                  <c:v>0.7</c:v>
                </c:pt>
                <c:pt idx="12">
                  <c:v>0.5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Country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Weight and Acceptance Rate by EasyChair Keyphrase</a:t>
            </a:r>
          </a:p>
        </c:rich>
      </c:tx>
      <c:overlay val="0"/>
    </c:title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'Keyphrases Weight and Rate'!$B$1</c:f>
              <c:strCache>
                <c:ptCount val="1"/>
                <c:pt idx="0">
                  <c:v>Weight * Acceptance Rate</c:v>
                </c:pt>
              </c:strCache>
            </c:strRef>
          </c:tx>
          <c:invertIfNegative val="1"/>
          <c:cat>
            <c:strRef>
              <c:f>'Keyphrases Weight and Rate'!$A$2:$A$101</c:f>
              <c:strCache>
                <c:ptCount val="100"/>
                <c:pt idx="0">
                  <c:v>Persons with Disabilities</c:v>
                </c:pt>
                <c:pt idx="1">
                  <c:v>accessibility and coordination mechanisms</c:v>
                </c:pt>
                <c:pt idx="2">
                  <c:v>inclusion for pwds</c:v>
                </c:pt>
                <c:pt idx="3">
                  <c:v>accessibility coordination mechanisms</c:v>
                </c:pt>
                <c:pt idx="4">
                  <c:v>content analysis</c:v>
                </c:pt>
                <c:pt idx="5">
                  <c:v>proof of delivery mechanized mailbox types</c:v>
                </c:pt>
                <c:pt idx="6">
                  <c:v>dds distribution design signature</c:v>
                </c:pt>
                <c:pt idx="7">
                  <c:v>redundant orchestration synthesis for contract automata</c:v>
                </c:pt>
                <c:pt idx="8">
                  <c:v>Federated Learning</c:v>
                </c:pt>
                <c:pt idx="9">
                  <c:v>formal verification of distributed data</c:v>
                </c:pt>
                <c:pt idx="10">
                  <c:v>reversible debugging on asynchronous channel</c:v>
                </c:pt>
                <c:pt idx="11">
                  <c:v>asynchronous channel based systems</c:v>
                </c:pt>
                <c:pt idx="12">
                  <c:v>maximum flow problem</c:v>
                </c:pt>
                <c:pt idx="13">
                  <c:v>positive and negative examples</c:v>
                </c:pt>
                <c:pt idx="14">
                  <c:v>Distributed Data-intensive</c:v>
                </c:pt>
                <c:pt idx="15">
                  <c:v>most permissive controller</c:v>
                </c:pt>
                <c:pt idx="16">
                  <c:v>aggregate push relabel algorithm</c:v>
                </c:pt>
                <c:pt idx="17">
                  <c:v>Computer Science</c:v>
                </c:pt>
                <c:pt idx="18">
                  <c:v>controllable and uncontrollable transitions</c:v>
                </c:pt>
                <c:pt idx="19">
                  <c:v>guard var</c:v>
                </c:pt>
                <c:pt idx="20">
                  <c:v>event logs</c:v>
                </c:pt>
                <c:pt idx="21">
                  <c:v>Object-Centric Petri Nets</c:v>
                </c:pt>
                <c:pt idx="22">
                  <c:v>programming pattern</c:v>
                </c:pt>
                <c:pt idx="23">
                  <c:v>Zero-shot</c:v>
                </c:pt>
                <c:pt idx="24">
                  <c:v>control loop</c:v>
                </c:pt>
                <c:pt idx="25">
                  <c:v>rebeca with llms</c:v>
                </c:pt>
                <c:pt idx="26">
                  <c:v>Machine Learning</c:v>
                </c:pt>
                <c:pt idx="27">
                  <c:v>model checking</c:v>
                </c:pt>
                <c:pt idx="28">
                  <c:v>Formal Verification</c:v>
                </c:pt>
                <c:pt idx="29">
                  <c:v>held as part</c:v>
                </c:pt>
                <c:pt idx="30">
                  <c:v>local process local db proxy</c:v>
                </c:pt>
                <c:pt idx="31">
                  <c:v>local process image provider proxy</c:v>
                </c:pt>
                <c:pt idx="32">
                  <c:v>permissive controller synthesis</c:v>
                </c:pt>
                <c:pt idx="33">
                  <c:v>Multi-agent models</c:v>
                </c:pt>
                <c:pt idx="34">
                  <c:v>Execution Scenarios</c:v>
                </c:pt>
                <c:pt idx="35">
                  <c:v>RPS Model</c:v>
                </c:pt>
                <c:pt idx="36">
                  <c:v>e e with positive and negative examples</c:v>
                </c:pt>
                <c:pt idx="37">
                  <c:v>typing rules</c:v>
                </c:pt>
                <c:pt idx="38">
                  <c:v>channel queues</c:v>
                </c:pt>
                <c:pt idx="39">
                  <c:v>list of principal contract automata</c:v>
                </c:pt>
                <c:pt idx="40">
                  <c:v>system configuration</c:v>
                </c:pt>
                <c:pt idx="41">
                  <c:v>Large Language Models</c:v>
                </c:pt>
                <c:pt idx="42">
                  <c:v>mailbox name</c:v>
                </c:pt>
                <c:pt idx="43">
                  <c:v>semi controllable transitions</c:v>
                </c:pt>
                <c:pt idx="44">
                  <c:v>splitting orchestration synthesis</c:v>
                </c:pt>
                <c:pt idx="45">
                  <c:v>Confusion Matrix</c:v>
                </c:pt>
                <c:pt idx="46">
                  <c:v>maximum flow computation</c:v>
                </c:pt>
                <c:pt idx="47">
                  <c:v>aggregate push relabel</c:v>
                </c:pt>
                <c:pt idx="48">
                  <c:v>natural language</c:v>
                </c:pt>
                <c:pt idx="49">
                  <c:v>image provider contract</c:v>
                </c:pt>
                <c:pt idx="50">
                  <c:v>path between source and sink</c:v>
                </c:pt>
                <c:pt idx="51">
                  <c:v>Object-Centric Process Mining</c:v>
                </c:pt>
                <c:pt idx="52">
                  <c:v>pattern normal form</c:v>
                </c:pt>
                <c:pt idx="53">
                  <c:v>Service Broker</c:v>
                </c:pt>
                <c:pt idx="54">
                  <c:v>adaptation contracts</c:v>
                </c:pt>
                <c:pt idx="55">
                  <c:v>controlled system</c:v>
                </c:pt>
                <c:pt idx="56">
                  <c:v>Distributed Execution</c:v>
                </c:pt>
                <c:pt idx="57">
                  <c:v>implications for distribution</c:v>
                </c:pt>
                <c:pt idx="58">
                  <c:v>type combinations</c:v>
                </c:pt>
                <c:pt idx="59">
                  <c:v>eclipse supervisory control engineering toolkit</c:v>
                </c:pt>
                <c:pt idx="60">
                  <c:v>augmenting path between source</c:v>
                </c:pt>
                <c:pt idx="61">
                  <c:v>channel-based communication</c:v>
                </c:pt>
                <c:pt idx="62">
                  <c:v>ter beek</c:v>
                </c:pt>
                <c:pt idx="63">
                  <c:v>Adaptation contract</c:v>
                </c:pt>
                <c:pt idx="64">
                  <c:v>adaptable service</c:v>
                </c:pt>
                <c:pt idx="65">
                  <c:v>source and sink with excess flow</c:v>
                </c:pt>
                <c:pt idx="66">
                  <c:v>centralized popper</c:v>
                </c:pt>
                <c:pt idx="67">
                  <c:v>federated inductive logic programming</c:v>
                </c:pt>
                <c:pt idx="68">
                  <c:v>invoice receipt</c:v>
                </c:pt>
                <c:pt idx="69">
                  <c:v>Answer Set Programming</c:v>
                </c:pt>
                <c:pt idx="70">
                  <c:v>computed answer substitution</c:v>
                </c:pt>
                <c:pt idx="71">
                  <c:v>horn clause program</c:v>
                </c:pt>
                <c:pt idx="72">
                  <c:v>complete and consistent</c:v>
                </c:pt>
                <c:pt idx="73">
                  <c:v>process configuration</c:v>
                </c:pt>
                <c:pt idx="74">
                  <c:v>history item</c:v>
                </c:pt>
                <c:pt idx="75">
                  <c:v>both actions</c:v>
                </c:pt>
                <c:pt idx="76">
                  <c:v>programming languages</c:v>
                </c:pt>
                <c:pt idx="77">
                  <c:v>mailbox type</c:v>
                </c:pt>
                <c:pt idx="78">
                  <c:v>visibility range</c:v>
                </c:pt>
                <c:pt idx="79">
                  <c:v>shared state and consistency constraints</c:v>
                </c:pt>
                <c:pt idx="80">
                  <c:v>max-flow</c:v>
                </c:pt>
                <c:pt idx="81">
                  <c:v>redundant formal methods</c:v>
                </c:pt>
                <c:pt idx="82">
                  <c:v>monitor update</c:v>
                </c:pt>
                <c:pt idx="83">
                  <c:v>session types</c:v>
                </c:pt>
                <c:pt idx="84">
                  <c:v>type combination</c:v>
                </c:pt>
                <c:pt idx="85">
                  <c:v>base types</c:v>
                </c:pt>
                <c:pt idx="86">
                  <c:v>environment subtyping</c:v>
                </c:pt>
                <c:pt idx="87">
                  <c:v>mailbox configurations</c:v>
                </c:pt>
                <c:pt idx="88">
                  <c:v>semantics of mailbox types</c:v>
                </c:pt>
                <c:pt idx="89">
                  <c:v>define atomic propositions</c:v>
                </c:pt>
                <c:pt idx="90">
                  <c:v>described by pattern</c:v>
                </c:pt>
                <c:pt idx="91">
                  <c:v>minimality of rollback and replay semantics</c:v>
                </c:pt>
                <c:pt idx="92">
                  <c:v>special delivery programming with mailbox types</c:v>
                </c:pt>
                <c:pt idx="93">
                  <c:v>sequence of history items</c:v>
                </c:pt>
                <c:pt idx="94">
                  <c:v>implicit context</c:v>
                </c:pt>
                <c:pt idx="95">
                  <c:v>maritime regulations</c:v>
                </c:pt>
                <c:pt idx="96">
                  <c:v>Shot Prompting</c:v>
                </c:pt>
                <c:pt idx="97">
                  <c:v>shot prompts</c:v>
                </c:pt>
                <c:pt idx="98">
                  <c:v>unbounded resources</c:v>
                </c:pt>
                <c:pt idx="99">
                  <c:v>rebeca reactive object language</c:v>
                </c:pt>
              </c:strCache>
            </c:strRef>
          </c:cat>
          <c:val>
            <c:numRef>
              <c:f>'Keyphrases Weight and Rate'!$B$2:$B$101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436</c:v>
                </c:pt>
                <c:pt idx="6">
                  <c:v>0</c:v>
                </c:pt>
                <c:pt idx="7">
                  <c:v>0</c:v>
                </c:pt>
                <c:pt idx="8">
                  <c:v>377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295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89</c:v>
                </c:pt>
                <c:pt idx="18">
                  <c:v>0</c:v>
                </c:pt>
                <c:pt idx="19">
                  <c:v>239</c:v>
                </c:pt>
                <c:pt idx="20">
                  <c:v>0</c:v>
                </c:pt>
                <c:pt idx="21">
                  <c:v>0</c:v>
                </c:pt>
                <c:pt idx="22">
                  <c:v>234</c:v>
                </c:pt>
                <c:pt idx="23">
                  <c:v>0</c:v>
                </c:pt>
                <c:pt idx="24">
                  <c:v>226</c:v>
                </c:pt>
                <c:pt idx="25">
                  <c:v>0</c:v>
                </c:pt>
                <c:pt idx="26">
                  <c:v>213</c:v>
                </c:pt>
                <c:pt idx="27">
                  <c:v>0</c:v>
                </c:pt>
                <c:pt idx="28">
                  <c:v>0</c:v>
                </c:pt>
                <c:pt idx="29">
                  <c:v>102</c:v>
                </c:pt>
                <c:pt idx="30">
                  <c:v>194</c:v>
                </c:pt>
                <c:pt idx="31">
                  <c:v>194</c:v>
                </c:pt>
                <c:pt idx="32">
                  <c:v>0</c:v>
                </c:pt>
                <c:pt idx="33">
                  <c:v>0</c:v>
                </c:pt>
                <c:pt idx="34">
                  <c:v>184</c:v>
                </c:pt>
                <c:pt idx="35">
                  <c:v>0</c:v>
                </c:pt>
                <c:pt idx="36">
                  <c:v>184</c:v>
                </c:pt>
                <c:pt idx="37">
                  <c:v>183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169</c:v>
                </c:pt>
                <c:pt idx="43">
                  <c:v>0</c:v>
                </c:pt>
                <c:pt idx="44">
                  <c:v>0</c:v>
                </c:pt>
                <c:pt idx="45">
                  <c:v>164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159</c:v>
                </c:pt>
                <c:pt idx="50">
                  <c:v>0</c:v>
                </c:pt>
                <c:pt idx="51">
                  <c:v>0</c:v>
                </c:pt>
                <c:pt idx="52">
                  <c:v>155</c:v>
                </c:pt>
                <c:pt idx="53">
                  <c:v>151</c:v>
                </c:pt>
                <c:pt idx="54">
                  <c:v>151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141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134</c:v>
                </c:pt>
                <c:pt idx="64">
                  <c:v>134</c:v>
                </c:pt>
                <c:pt idx="65">
                  <c:v>0</c:v>
                </c:pt>
                <c:pt idx="66">
                  <c:v>131</c:v>
                </c:pt>
                <c:pt idx="67">
                  <c:v>131</c:v>
                </c:pt>
                <c:pt idx="68">
                  <c:v>0</c:v>
                </c:pt>
                <c:pt idx="69">
                  <c:v>129</c:v>
                </c:pt>
                <c:pt idx="70">
                  <c:v>129</c:v>
                </c:pt>
                <c:pt idx="71">
                  <c:v>129</c:v>
                </c:pt>
                <c:pt idx="72">
                  <c:v>129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127</c:v>
                </c:pt>
                <c:pt idx="77">
                  <c:v>127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117</c:v>
                </c:pt>
                <c:pt idx="83">
                  <c:v>113</c:v>
                </c:pt>
                <c:pt idx="84">
                  <c:v>113</c:v>
                </c:pt>
                <c:pt idx="85">
                  <c:v>113</c:v>
                </c:pt>
                <c:pt idx="86">
                  <c:v>113</c:v>
                </c:pt>
                <c:pt idx="87">
                  <c:v>113</c:v>
                </c:pt>
                <c:pt idx="88">
                  <c:v>113</c:v>
                </c:pt>
                <c:pt idx="89">
                  <c:v>0</c:v>
                </c:pt>
                <c:pt idx="90">
                  <c:v>111</c:v>
                </c:pt>
                <c:pt idx="91">
                  <c:v>0</c:v>
                </c:pt>
                <c:pt idx="92">
                  <c:v>108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</c:ser>
        <c:ser>
          <c:idx val="1"/>
          <c:order val="1"/>
          <c:tx>
            <c:strRef>
              <c:f>'Keyphrases Weight and Rate'!$C$1</c:f>
              <c:strCache>
                <c:ptCount val="1"/>
                <c:pt idx="0">
                  <c:v>Weight * Unacceptance Rate</c:v>
                </c:pt>
              </c:strCache>
            </c:strRef>
          </c:tx>
          <c:invertIfNegative val="1"/>
          <c:cat>
            <c:strRef>
              <c:f>'Keyphrases Weight and Rate'!$A$2:$A$101</c:f>
              <c:strCache>
                <c:ptCount val="100"/>
                <c:pt idx="0">
                  <c:v>Persons with Disabilities</c:v>
                </c:pt>
                <c:pt idx="1">
                  <c:v>accessibility and coordination mechanisms</c:v>
                </c:pt>
                <c:pt idx="2">
                  <c:v>inclusion for pwds</c:v>
                </c:pt>
                <c:pt idx="3">
                  <c:v>accessibility coordination mechanisms</c:v>
                </c:pt>
                <c:pt idx="4">
                  <c:v>content analysis</c:v>
                </c:pt>
                <c:pt idx="5">
                  <c:v>proof of delivery mechanized mailbox types</c:v>
                </c:pt>
                <c:pt idx="6">
                  <c:v>dds distribution design signature</c:v>
                </c:pt>
                <c:pt idx="7">
                  <c:v>redundant orchestration synthesis for contract automata</c:v>
                </c:pt>
                <c:pt idx="8">
                  <c:v>Federated Learning</c:v>
                </c:pt>
                <c:pt idx="9">
                  <c:v>formal verification of distributed data</c:v>
                </c:pt>
                <c:pt idx="10">
                  <c:v>reversible debugging on asynchronous channel</c:v>
                </c:pt>
                <c:pt idx="11">
                  <c:v>asynchronous channel based systems</c:v>
                </c:pt>
                <c:pt idx="12">
                  <c:v>maximum flow problem</c:v>
                </c:pt>
                <c:pt idx="13">
                  <c:v>positive and negative examples</c:v>
                </c:pt>
                <c:pt idx="14">
                  <c:v>Distributed Data-intensive</c:v>
                </c:pt>
                <c:pt idx="15">
                  <c:v>most permissive controller</c:v>
                </c:pt>
                <c:pt idx="16">
                  <c:v>aggregate push relabel algorithm</c:v>
                </c:pt>
                <c:pt idx="17">
                  <c:v>Computer Science</c:v>
                </c:pt>
                <c:pt idx="18">
                  <c:v>controllable and uncontrollable transitions</c:v>
                </c:pt>
                <c:pt idx="19">
                  <c:v>guard var</c:v>
                </c:pt>
                <c:pt idx="20">
                  <c:v>event logs</c:v>
                </c:pt>
                <c:pt idx="21">
                  <c:v>Object-Centric Petri Nets</c:v>
                </c:pt>
                <c:pt idx="22">
                  <c:v>programming pattern</c:v>
                </c:pt>
                <c:pt idx="23">
                  <c:v>Zero-shot</c:v>
                </c:pt>
                <c:pt idx="24">
                  <c:v>control loop</c:v>
                </c:pt>
                <c:pt idx="25">
                  <c:v>rebeca with llms</c:v>
                </c:pt>
                <c:pt idx="26">
                  <c:v>Machine Learning</c:v>
                </c:pt>
                <c:pt idx="27">
                  <c:v>model checking</c:v>
                </c:pt>
                <c:pt idx="28">
                  <c:v>Formal Verification</c:v>
                </c:pt>
                <c:pt idx="29">
                  <c:v>held as part</c:v>
                </c:pt>
                <c:pt idx="30">
                  <c:v>local process local db proxy</c:v>
                </c:pt>
                <c:pt idx="31">
                  <c:v>local process image provider proxy</c:v>
                </c:pt>
                <c:pt idx="32">
                  <c:v>permissive controller synthesis</c:v>
                </c:pt>
                <c:pt idx="33">
                  <c:v>Multi-agent models</c:v>
                </c:pt>
                <c:pt idx="34">
                  <c:v>Execution Scenarios</c:v>
                </c:pt>
                <c:pt idx="35">
                  <c:v>RPS Model</c:v>
                </c:pt>
                <c:pt idx="36">
                  <c:v>e e with positive and negative examples</c:v>
                </c:pt>
                <c:pt idx="37">
                  <c:v>typing rules</c:v>
                </c:pt>
                <c:pt idx="38">
                  <c:v>channel queues</c:v>
                </c:pt>
                <c:pt idx="39">
                  <c:v>list of principal contract automata</c:v>
                </c:pt>
                <c:pt idx="40">
                  <c:v>system configuration</c:v>
                </c:pt>
                <c:pt idx="41">
                  <c:v>Large Language Models</c:v>
                </c:pt>
                <c:pt idx="42">
                  <c:v>mailbox name</c:v>
                </c:pt>
                <c:pt idx="43">
                  <c:v>semi controllable transitions</c:v>
                </c:pt>
                <c:pt idx="44">
                  <c:v>splitting orchestration synthesis</c:v>
                </c:pt>
                <c:pt idx="45">
                  <c:v>Confusion Matrix</c:v>
                </c:pt>
                <c:pt idx="46">
                  <c:v>maximum flow computation</c:v>
                </c:pt>
                <c:pt idx="47">
                  <c:v>aggregate push relabel</c:v>
                </c:pt>
                <c:pt idx="48">
                  <c:v>natural language</c:v>
                </c:pt>
                <c:pt idx="49">
                  <c:v>image provider contract</c:v>
                </c:pt>
                <c:pt idx="50">
                  <c:v>path between source and sink</c:v>
                </c:pt>
                <c:pt idx="51">
                  <c:v>Object-Centric Process Mining</c:v>
                </c:pt>
                <c:pt idx="52">
                  <c:v>pattern normal form</c:v>
                </c:pt>
                <c:pt idx="53">
                  <c:v>Service Broker</c:v>
                </c:pt>
                <c:pt idx="54">
                  <c:v>adaptation contracts</c:v>
                </c:pt>
                <c:pt idx="55">
                  <c:v>controlled system</c:v>
                </c:pt>
                <c:pt idx="56">
                  <c:v>Distributed Execution</c:v>
                </c:pt>
                <c:pt idx="57">
                  <c:v>implications for distribution</c:v>
                </c:pt>
                <c:pt idx="58">
                  <c:v>type combinations</c:v>
                </c:pt>
                <c:pt idx="59">
                  <c:v>eclipse supervisory control engineering toolkit</c:v>
                </c:pt>
                <c:pt idx="60">
                  <c:v>augmenting path between source</c:v>
                </c:pt>
                <c:pt idx="61">
                  <c:v>channel-based communication</c:v>
                </c:pt>
                <c:pt idx="62">
                  <c:v>ter beek</c:v>
                </c:pt>
                <c:pt idx="63">
                  <c:v>Adaptation contract</c:v>
                </c:pt>
                <c:pt idx="64">
                  <c:v>adaptable service</c:v>
                </c:pt>
                <c:pt idx="65">
                  <c:v>source and sink with excess flow</c:v>
                </c:pt>
                <c:pt idx="66">
                  <c:v>centralized popper</c:v>
                </c:pt>
                <c:pt idx="67">
                  <c:v>federated inductive logic programming</c:v>
                </c:pt>
                <c:pt idx="68">
                  <c:v>invoice receipt</c:v>
                </c:pt>
                <c:pt idx="69">
                  <c:v>Answer Set Programming</c:v>
                </c:pt>
                <c:pt idx="70">
                  <c:v>computed answer substitution</c:v>
                </c:pt>
                <c:pt idx="71">
                  <c:v>horn clause program</c:v>
                </c:pt>
                <c:pt idx="72">
                  <c:v>complete and consistent</c:v>
                </c:pt>
                <c:pt idx="73">
                  <c:v>process configuration</c:v>
                </c:pt>
                <c:pt idx="74">
                  <c:v>history item</c:v>
                </c:pt>
                <c:pt idx="75">
                  <c:v>both actions</c:v>
                </c:pt>
                <c:pt idx="76">
                  <c:v>programming languages</c:v>
                </c:pt>
                <c:pt idx="77">
                  <c:v>mailbox type</c:v>
                </c:pt>
                <c:pt idx="78">
                  <c:v>visibility range</c:v>
                </c:pt>
                <c:pt idx="79">
                  <c:v>shared state and consistency constraints</c:v>
                </c:pt>
                <c:pt idx="80">
                  <c:v>max-flow</c:v>
                </c:pt>
                <c:pt idx="81">
                  <c:v>redundant formal methods</c:v>
                </c:pt>
                <c:pt idx="82">
                  <c:v>monitor update</c:v>
                </c:pt>
                <c:pt idx="83">
                  <c:v>session types</c:v>
                </c:pt>
                <c:pt idx="84">
                  <c:v>type combination</c:v>
                </c:pt>
                <c:pt idx="85">
                  <c:v>base types</c:v>
                </c:pt>
                <c:pt idx="86">
                  <c:v>environment subtyping</c:v>
                </c:pt>
                <c:pt idx="87">
                  <c:v>mailbox configurations</c:v>
                </c:pt>
                <c:pt idx="88">
                  <c:v>semantics of mailbox types</c:v>
                </c:pt>
                <c:pt idx="89">
                  <c:v>define atomic propositions</c:v>
                </c:pt>
                <c:pt idx="90">
                  <c:v>described by pattern</c:v>
                </c:pt>
                <c:pt idx="91">
                  <c:v>minimality of rollback and replay semantics</c:v>
                </c:pt>
                <c:pt idx="92">
                  <c:v>special delivery programming with mailbox types</c:v>
                </c:pt>
                <c:pt idx="93">
                  <c:v>sequence of history items</c:v>
                </c:pt>
                <c:pt idx="94">
                  <c:v>implicit context</c:v>
                </c:pt>
                <c:pt idx="95">
                  <c:v>maritime regulations</c:v>
                </c:pt>
                <c:pt idx="96">
                  <c:v>Shot Prompting</c:v>
                </c:pt>
                <c:pt idx="97">
                  <c:v>shot prompts</c:v>
                </c:pt>
                <c:pt idx="98">
                  <c:v>unbounded resources</c:v>
                </c:pt>
                <c:pt idx="99">
                  <c:v>rebeca reactive object language</c:v>
                </c:pt>
              </c:strCache>
            </c:strRef>
          </c:cat>
          <c:val>
            <c:numRef>
              <c:f>'Keyphrases Weight and Rate'!$C$2:$C$101</c:f>
              <c:numCache>
                <c:formatCode>General</c:formatCode>
                <c:ptCount val="100"/>
                <c:pt idx="0">
                  <c:v>1000</c:v>
                </c:pt>
                <c:pt idx="1">
                  <c:v>851</c:v>
                </c:pt>
                <c:pt idx="2">
                  <c:v>660</c:v>
                </c:pt>
                <c:pt idx="3">
                  <c:v>660</c:v>
                </c:pt>
                <c:pt idx="4">
                  <c:v>638</c:v>
                </c:pt>
                <c:pt idx="5">
                  <c:v>0</c:v>
                </c:pt>
                <c:pt idx="6">
                  <c:v>420</c:v>
                </c:pt>
                <c:pt idx="7">
                  <c:v>388</c:v>
                </c:pt>
                <c:pt idx="8">
                  <c:v>0</c:v>
                </c:pt>
                <c:pt idx="9">
                  <c:v>334</c:v>
                </c:pt>
                <c:pt idx="10">
                  <c:v>324</c:v>
                </c:pt>
                <c:pt idx="11">
                  <c:v>301</c:v>
                </c:pt>
                <c:pt idx="12">
                  <c:v>299</c:v>
                </c:pt>
                <c:pt idx="13">
                  <c:v>0</c:v>
                </c:pt>
                <c:pt idx="14">
                  <c:v>289</c:v>
                </c:pt>
                <c:pt idx="15">
                  <c:v>286</c:v>
                </c:pt>
                <c:pt idx="16">
                  <c:v>275</c:v>
                </c:pt>
                <c:pt idx="17">
                  <c:v>177</c:v>
                </c:pt>
                <c:pt idx="18">
                  <c:v>241</c:v>
                </c:pt>
                <c:pt idx="19">
                  <c:v>0</c:v>
                </c:pt>
                <c:pt idx="20">
                  <c:v>235</c:v>
                </c:pt>
                <c:pt idx="21">
                  <c:v>235</c:v>
                </c:pt>
                <c:pt idx="22">
                  <c:v>0</c:v>
                </c:pt>
                <c:pt idx="23">
                  <c:v>232</c:v>
                </c:pt>
                <c:pt idx="24">
                  <c:v>0</c:v>
                </c:pt>
                <c:pt idx="25">
                  <c:v>225</c:v>
                </c:pt>
                <c:pt idx="26">
                  <c:v>0</c:v>
                </c:pt>
                <c:pt idx="27">
                  <c:v>209</c:v>
                </c:pt>
                <c:pt idx="28">
                  <c:v>207</c:v>
                </c:pt>
                <c:pt idx="29">
                  <c:v>102</c:v>
                </c:pt>
                <c:pt idx="30">
                  <c:v>0</c:v>
                </c:pt>
                <c:pt idx="31">
                  <c:v>0</c:v>
                </c:pt>
                <c:pt idx="32">
                  <c:v>190</c:v>
                </c:pt>
                <c:pt idx="33">
                  <c:v>186</c:v>
                </c:pt>
                <c:pt idx="34">
                  <c:v>0</c:v>
                </c:pt>
                <c:pt idx="35">
                  <c:v>184</c:v>
                </c:pt>
                <c:pt idx="36">
                  <c:v>0</c:v>
                </c:pt>
                <c:pt idx="37">
                  <c:v>0</c:v>
                </c:pt>
                <c:pt idx="38">
                  <c:v>183</c:v>
                </c:pt>
                <c:pt idx="39">
                  <c:v>175</c:v>
                </c:pt>
                <c:pt idx="40">
                  <c:v>172</c:v>
                </c:pt>
                <c:pt idx="41">
                  <c:v>170</c:v>
                </c:pt>
                <c:pt idx="42">
                  <c:v>0</c:v>
                </c:pt>
                <c:pt idx="43">
                  <c:v>166</c:v>
                </c:pt>
                <c:pt idx="44">
                  <c:v>166</c:v>
                </c:pt>
                <c:pt idx="45">
                  <c:v>0</c:v>
                </c:pt>
                <c:pt idx="46">
                  <c:v>163</c:v>
                </c:pt>
                <c:pt idx="47">
                  <c:v>163</c:v>
                </c:pt>
                <c:pt idx="48">
                  <c:v>161</c:v>
                </c:pt>
                <c:pt idx="49">
                  <c:v>0</c:v>
                </c:pt>
                <c:pt idx="50">
                  <c:v>158</c:v>
                </c:pt>
                <c:pt idx="51">
                  <c:v>157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150</c:v>
                </c:pt>
                <c:pt idx="56">
                  <c:v>144</c:v>
                </c:pt>
                <c:pt idx="57">
                  <c:v>144</c:v>
                </c:pt>
                <c:pt idx="58">
                  <c:v>0</c:v>
                </c:pt>
                <c:pt idx="59">
                  <c:v>138</c:v>
                </c:pt>
                <c:pt idx="60">
                  <c:v>137</c:v>
                </c:pt>
                <c:pt idx="61">
                  <c:v>135</c:v>
                </c:pt>
                <c:pt idx="62">
                  <c:v>135</c:v>
                </c:pt>
                <c:pt idx="63">
                  <c:v>0</c:v>
                </c:pt>
                <c:pt idx="64">
                  <c:v>0</c:v>
                </c:pt>
                <c:pt idx="65">
                  <c:v>132</c:v>
                </c:pt>
                <c:pt idx="66">
                  <c:v>0</c:v>
                </c:pt>
                <c:pt idx="67">
                  <c:v>0</c:v>
                </c:pt>
                <c:pt idx="68">
                  <c:v>131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129</c:v>
                </c:pt>
                <c:pt idx="74">
                  <c:v>129</c:v>
                </c:pt>
                <c:pt idx="75">
                  <c:v>129</c:v>
                </c:pt>
                <c:pt idx="76">
                  <c:v>0</c:v>
                </c:pt>
                <c:pt idx="77">
                  <c:v>0</c:v>
                </c:pt>
                <c:pt idx="78">
                  <c:v>125</c:v>
                </c:pt>
                <c:pt idx="79">
                  <c:v>121</c:v>
                </c:pt>
                <c:pt idx="80">
                  <c:v>120</c:v>
                </c:pt>
                <c:pt idx="81">
                  <c:v>119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112</c:v>
                </c:pt>
                <c:pt idx="90">
                  <c:v>0</c:v>
                </c:pt>
                <c:pt idx="91">
                  <c:v>111</c:v>
                </c:pt>
                <c:pt idx="92">
                  <c:v>0</c:v>
                </c:pt>
                <c:pt idx="93">
                  <c:v>107</c:v>
                </c:pt>
                <c:pt idx="94">
                  <c:v>107</c:v>
                </c:pt>
                <c:pt idx="95">
                  <c:v>107</c:v>
                </c:pt>
                <c:pt idx="96">
                  <c:v>107</c:v>
                </c:pt>
                <c:pt idx="97">
                  <c:v>107</c:v>
                </c:pt>
                <c:pt idx="98">
                  <c:v>107</c:v>
                </c:pt>
                <c:pt idx="99">
                  <c:v>107</c:v>
                </c:pt>
              </c:numCache>
            </c:numRef>
          </c:val>
        </c:ser>
        <c:ser>
          <c:idx val="2"/>
          <c:order val="2"/>
          <c:tx>
            <c:strRef>
              <c:f>'Keyphrases Weight and Rate'!$E$1</c:f>
              <c:strCache>
                <c:ptCount val="1"/>
                <c:pt idx="0">
                  <c:v>Acceptance Rate</c:v>
                </c:pt>
              </c:strCache>
            </c:strRef>
          </c:tx>
          <c:invertIfNegative val="1"/>
          <c:cat>
            <c:strRef>
              <c:f>'Keyphrases Weight and Rate'!$A$2:$A$101</c:f>
              <c:strCache>
                <c:ptCount val="100"/>
                <c:pt idx="0">
                  <c:v>Persons with Disabilities</c:v>
                </c:pt>
                <c:pt idx="1">
                  <c:v>accessibility and coordination mechanisms</c:v>
                </c:pt>
                <c:pt idx="2">
                  <c:v>inclusion for pwds</c:v>
                </c:pt>
                <c:pt idx="3">
                  <c:v>accessibility coordination mechanisms</c:v>
                </c:pt>
                <c:pt idx="4">
                  <c:v>content analysis</c:v>
                </c:pt>
                <c:pt idx="5">
                  <c:v>proof of delivery mechanized mailbox types</c:v>
                </c:pt>
                <c:pt idx="6">
                  <c:v>dds distribution design signature</c:v>
                </c:pt>
                <c:pt idx="7">
                  <c:v>redundant orchestration synthesis for contract automata</c:v>
                </c:pt>
                <c:pt idx="8">
                  <c:v>Federated Learning</c:v>
                </c:pt>
                <c:pt idx="9">
                  <c:v>formal verification of distributed data</c:v>
                </c:pt>
                <c:pt idx="10">
                  <c:v>reversible debugging on asynchronous channel</c:v>
                </c:pt>
                <c:pt idx="11">
                  <c:v>asynchronous channel based systems</c:v>
                </c:pt>
                <c:pt idx="12">
                  <c:v>maximum flow problem</c:v>
                </c:pt>
                <c:pt idx="13">
                  <c:v>positive and negative examples</c:v>
                </c:pt>
                <c:pt idx="14">
                  <c:v>Distributed Data-intensive</c:v>
                </c:pt>
                <c:pt idx="15">
                  <c:v>most permissive controller</c:v>
                </c:pt>
                <c:pt idx="16">
                  <c:v>aggregate push relabel algorithm</c:v>
                </c:pt>
                <c:pt idx="17">
                  <c:v>Computer Science</c:v>
                </c:pt>
                <c:pt idx="18">
                  <c:v>controllable and uncontrollable transitions</c:v>
                </c:pt>
                <c:pt idx="19">
                  <c:v>guard var</c:v>
                </c:pt>
                <c:pt idx="20">
                  <c:v>event logs</c:v>
                </c:pt>
                <c:pt idx="21">
                  <c:v>Object-Centric Petri Nets</c:v>
                </c:pt>
                <c:pt idx="22">
                  <c:v>programming pattern</c:v>
                </c:pt>
                <c:pt idx="23">
                  <c:v>Zero-shot</c:v>
                </c:pt>
                <c:pt idx="24">
                  <c:v>control loop</c:v>
                </c:pt>
                <c:pt idx="25">
                  <c:v>rebeca with llms</c:v>
                </c:pt>
                <c:pt idx="26">
                  <c:v>Machine Learning</c:v>
                </c:pt>
                <c:pt idx="27">
                  <c:v>model checking</c:v>
                </c:pt>
                <c:pt idx="28">
                  <c:v>Formal Verification</c:v>
                </c:pt>
                <c:pt idx="29">
                  <c:v>held as part</c:v>
                </c:pt>
                <c:pt idx="30">
                  <c:v>local process local db proxy</c:v>
                </c:pt>
                <c:pt idx="31">
                  <c:v>local process image provider proxy</c:v>
                </c:pt>
                <c:pt idx="32">
                  <c:v>permissive controller synthesis</c:v>
                </c:pt>
                <c:pt idx="33">
                  <c:v>Multi-agent models</c:v>
                </c:pt>
                <c:pt idx="34">
                  <c:v>Execution Scenarios</c:v>
                </c:pt>
                <c:pt idx="35">
                  <c:v>RPS Model</c:v>
                </c:pt>
                <c:pt idx="36">
                  <c:v>e e with positive and negative examples</c:v>
                </c:pt>
                <c:pt idx="37">
                  <c:v>typing rules</c:v>
                </c:pt>
                <c:pt idx="38">
                  <c:v>channel queues</c:v>
                </c:pt>
                <c:pt idx="39">
                  <c:v>list of principal contract automata</c:v>
                </c:pt>
                <c:pt idx="40">
                  <c:v>system configuration</c:v>
                </c:pt>
                <c:pt idx="41">
                  <c:v>Large Language Models</c:v>
                </c:pt>
                <c:pt idx="42">
                  <c:v>mailbox name</c:v>
                </c:pt>
                <c:pt idx="43">
                  <c:v>semi controllable transitions</c:v>
                </c:pt>
                <c:pt idx="44">
                  <c:v>splitting orchestration synthesis</c:v>
                </c:pt>
                <c:pt idx="45">
                  <c:v>Confusion Matrix</c:v>
                </c:pt>
                <c:pt idx="46">
                  <c:v>maximum flow computation</c:v>
                </c:pt>
                <c:pt idx="47">
                  <c:v>aggregate push relabel</c:v>
                </c:pt>
                <c:pt idx="48">
                  <c:v>natural language</c:v>
                </c:pt>
                <c:pt idx="49">
                  <c:v>image provider contract</c:v>
                </c:pt>
                <c:pt idx="50">
                  <c:v>path between source and sink</c:v>
                </c:pt>
                <c:pt idx="51">
                  <c:v>Object-Centric Process Mining</c:v>
                </c:pt>
                <c:pt idx="52">
                  <c:v>pattern normal form</c:v>
                </c:pt>
                <c:pt idx="53">
                  <c:v>Service Broker</c:v>
                </c:pt>
                <c:pt idx="54">
                  <c:v>adaptation contracts</c:v>
                </c:pt>
                <c:pt idx="55">
                  <c:v>controlled system</c:v>
                </c:pt>
                <c:pt idx="56">
                  <c:v>Distributed Execution</c:v>
                </c:pt>
                <c:pt idx="57">
                  <c:v>implications for distribution</c:v>
                </c:pt>
                <c:pt idx="58">
                  <c:v>type combinations</c:v>
                </c:pt>
                <c:pt idx="59">
                  <c:v>eclipse supervisory control engineering toolkit</c:v>
                </c:pt>
                <c:pt idx="60">
                  <c:v>augmenting path between source</c:v>
                </c:pt>
                <c:pt idx="61">
                  <c:v>channel-based communication</c:v>
                </c:pt>
                <c:pt idx="62">
                  <c:v>ter beek</c:v>
                </c:pt>
                <c:pt idx="63">
                  <c:v>Adaptation contract</c:v>
                </c:pt>
                <c:pt idx="64">
                  <c:v>adaptable service</c:v>
                </c:pt>
                <c:pt idx="65">
                  <c:v>source and sink with excess flow</c:v>
                </c:pt>
                <c:pt idx="66">
                  <c:v>centralized popper</c:v>
                </c:pt>
                <c:pt idx="67">
                  <c:v>federated inductive logic programming</c:v>
                </c:pt>
                <c:pt idx="68">
                  <c:v>invoice receipt</c:v>
                </c:pt>
                <c:pt idx="69">
                  <c:v>Answer Set Programming</c:v>
                </c:pt>
                <c:pt idx="70">
                  <c:v>computed answer substitution</c:v>
                </c:pt>
                <c:pt idx="71">
                  <c:v>horn clause program</c:v>
                </c:pt>
                <c:pt idx="72">
                  <c:v>complete and consistent</c:v>
                </c:pt>
                <c:pt idx="73">
                  <c:v>process configuration</c:v>
                </c:pt>
                <c:pt idx="74">
                  <c:v>history item</c:v>
                </c:pt>
                <c:pt idx="75">
                  <c:v>both actions</c:v>
                </c:pt>
                <c:pt idx="76">
                  <c:v>programming languages</c:v>
                </c:pt>
                <c:pt idx="77">
                  <c:v>mailbox type</c:v>
                </c:pt>
                <c:pt idx="78">
                  <c:v>visibility range</c:v>
                </c:pt>
                <c:pt idx="79">
                  <c:v>shared state and consistency constraints</c:v>
                </c:pt>
                <c:pt idx="80">
                  <c:v>max-flow</c:v>
                </c:pt>
                <c:pt idx="81">
                  <c:v>redundant formal methods</c:v>
                </c:pt>
                <c:pt idx="82">
                  <c:v>monitor update</c:v>
                </c:pt>
                <c:pt idx="83">
                  <c:v>session types</c:v>
                </c:pt>
                <c:pt idx="84">
                  <c:v>type combination</c:v>
                </c:pt>
                <c:pt idx="85">
                  <c:v>base types</c:v>
                </c:pt>
                <c:pt idx="86">
                  <c:v>environment subtyping</c:v>
                </c:pt>
                <c:pt idx="87">
                  <c:v>mailbox configurations</c:v>
                </c:pt>
                <c:pt idx="88">
                  <c:v>semantics of mailbox types</c:v>
                </c:pt>
                <c:pt idx="89">
                  <c:v>define atomic propositions</c:v>
                </c:pt>
                <c:pt idx="90">
                  <c:v>described by pattern</c:v>
                </c:pt>
                <c:pt idx="91">
                  <c:v>minimality of rollback and replay semantics</c:v>
                </c:pt>
                <c:pt idx="92">
                  <c:v>special delivery programming with mailbox types</c:v>
                </c:pt>
                <c:pt idx="93">
                  <c:v>sequence of history items</c:v>
                </c:pt>
                <c:pt idx="94">
                  <c:v>implicit context</c:v>
                </c:pt>
                <c:pt idx="95">
                  <c:v>maritime regulations</c:v>
                </c:pt>
                <c:pt idx="96">
                  <c:v>Shot Prompting</c:v>
                </c:pt>
                <c:pt idx="97">
                  <c:v>shot prompts</c:v>
                </c:pt>
                <c:pt idx="98">
                  <c:v>unbounded resources</c:v>
                </c:pt>
                <c:pt idx="99">
                  <c:v>rebeca reactive object language</c:v>
                </c:pt>
              </c:strCache>
            </c:strRef>
          </c:cat>
          <c:val>
            <c:numRef>
              <c:f>'Keyphrases Weight and Rate'!$CV$2:$CV$101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dLbls>
            <c:dLbl>
              <c:idx val="0"/>
              <c:tx>
                <c:strRef>
                  <c:f>'Keyphrases Weight and Rate'!$E$2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strRef>
                  <c:f>'Keyphrases Weight and Rate'!$E$3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strRef>
                  <c:f>'Keyphrases Weight and Rate'!$E$4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strRef>
                  <c:f>'Keyphrases Weight and Rate'!$E$5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strRef>
                  <c:f>'Keyphrases Weight and Rate'!$E$6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strRef>
                  <c:f>'Keyphrases Weight and Rate'!$E$7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strRef>
                  <c:f>'Keyphrases Weight and Rate'!$E$8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strRef>
                  <c:f>'Keyphrases Weight and Rate'!$E$9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strRef>
                  <c:f>'Keyphrases Weight and Rate'!$E$10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strRef>
                  <c:f>'Keyphrases Weight and Rate'!$E$11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strRef>
                  <c:f>'Keyphrases Weight and Rate'!$E$12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strRef>
                  <c:f>'Keyphrases Weight and Rate'!$E$13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strRef>
                  <c:f>'Keyphrases Weight and Rate'!$E$14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strRef>
                  <c:f>'Keyphrases Weight and Rate'!$E$15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strRef>
                  <c:f>'Keyphrases Weight and Rate'!$E$16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strRef>
                  <c:f>'Keyphrases Weight and Rate'!$E$17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strRef>
                  <c:f>'Keyphrases Weight and Rate'!$E$18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strRef>
                  <c:f>'Keyphrases Weight and Rate'!$E$19</c:f>
                  <c:strCache>
                    <c:ptCount val="1"/>
                    <c:pt idx="0">
                      <c:v>0.33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strRef>
                  <c:f>'Keyphrases Weight and Rate'!$E$20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strRef>
                  <c:f>'Keyphrases Weight and Rate'!$E$21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strRef>
                  <c:f>'Keyphrases Weight and Rate'!$E$22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strRef>
                  <c:f>'Keyphrases Weight and Rate'!$E$23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strRef>
                  <c:f>'Keyphrases Weight and Rate'!$E$24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strRef>
                  <c:f>'Keyphrases Weight and Rate'!$E$25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4"/>
              <c:tx>
                <c:strRef>
                  <c:f>'Keyphrases Weight and Rate'!$E$26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5"/>
              <c:tx>
                <c:strRef>
                  <c:f>'Keyphrases Weight and Rate'!$E$27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6"/>
              <c:tx>
                <c:strRef>
                  <c:f>'Keyphrases Weight and Rate'!$E$28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7"/>
              <c:tx>
                <c:strRef>
                  <c:f>'Keyphrases Weight and Rate'!$E$29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8"/>
              <c:tx>
                <c:strRef>
                  <c:f>'Keyphrases Weight and Rate'!$E$30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9"/>
              <c:tx>
                <c:strRef>
                  <c:f>'Keyphrases Weight and Rate'!$E$31</c:f>
                  <c:strCache>
                    <c:ptCount val="1"/>
                    <c:pt idx="0">
                      <c:v>0.50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0"/>
              <c:tx>
                <c:strRef>
                  <c:f>'Keyphrases Weight and Rate'!$E$32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1"/>
              <c:tx>
                <c:strRef>
                  <c:f>'Keyphrases Weight and Rate'!$E$33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2"/>
              <c:tx>
                <c:strRef>
                  <c:f>'Keyphrases Weight and Rate'!$E$34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3"/>
              <c:tx>
                <c:strRef>
                  <c:f>'Keyphrases Weight and Rate'!$E$35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4"/>
              <c:tx>
                <c:strRef>
                  <c:f>'Keyphrases Weight and Rate'!$E$36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5"/>
              <c:tx>
                <c:strRef>
                  <c:f>'Keyphrases Weight and Rate'!$E$37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6"/>
              <c:tx>
                <c:strRef>
                  <c:f>'Keyphrases Weight and Rate'!$E$38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7"/>
              <c:tx>
                <c:strRef>
                  <c:f>'Keyphrases Weight and Rate'!$E$39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8"/>
              <c:tx>
                <c:strRef>
                  <c:f>'Keyphrases Weight and Rate'!$E$40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9"/>
              <c:tx>
                <c:strRef>
                  <c:f>'Keyphrases Weight and Rate'!$E$41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0"/>
              <c:tx>
                <c:strRef>
                  <c:f>'Keyphrases Weight and Rate'!$E$42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1"/>
              <c:tx>
                <c:strRef>
                  <c:f>'Keyphrases Weight and Rate'!$E$43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2"/>
              <c:tx>
                <c:strRef>
                  <c:f>'Keyphrases Weight and Rate'!$E$44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3"/>
              <c:tx>
                <c:strRef>
                  <c:f>'Keyphrases Weight and Rate'!$E$45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4"/>
              <c:tx>
                <c:strRef>
                  <c:f>'Keyphrases Weight and Rate'!$E$46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5"/>
              <c:tx>
                <c:strRef>
                  <c:f>'Keyphrases Weight and Rate'!$E$47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6"/>
              <c:tx>
                <c:strRef>
                  <c:f>'Keyphrases Weight and Rate'!$E$48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7"/>
              <c:tx>
                <c:strRef>
                  <c:f>'Keyphrases Weight and Rate'!$E$49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8"/>
              <c:tx>
                <c:strRef>
                  <c:f>'Keyphrases Weight and Rate'!$E$50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9"/>
              <c:tx>
                <c:strRef>
                  <c:f>'Keyphrases Weight and Rate'!$E$51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0"/>
              <c:tx>
                <c:strRef>
                  <c:f>'Keyphrases Weight and Rate'!$E$52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1"/>
              <c:tx>
                <c:strRef>
                  <c:f>'Keyphrases Weight and Rate'!$E$53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2"/>
              <c:tx>
                <c:strRef>
                  <c:f>'Keyphrases Weight and Rate'!$E$54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3"/>
              <c:tx>
                <c:strRef>
                  <c:f>'Keyphrases Weight and Rate'!$E$55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4"/>
              <c:tx>
                <c:strRef>
                  <c:f>'Keyphrases Weight and Rate'!$E$56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5"/>
              <c:tx>
                <c:strRef>
                  <c:f>'Keyphrases Weight and Rate'!$E$57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6"/>
              <c:tx>
                <c:strRef>
                  <c:f>'Keyphrases Weight and Rate'!$E$58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7"/>
              <c:tx>
                <c:strRef>
                  <c:f>'Keyphrases Weight and Rate'!$E$59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8"/>
              <c:tx>
                <c:strRef>
                  <c:f>'Keyphrases Weight and Rate'!$E$60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9"/>
              <c:tx>
                <c:strRef>
                  <c:f>'Keyphrases Weight and Rate'!$E$61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0"/>
              <c:tx>
                <c:strRef>
                  <c:f>'Keyphrases Weight and Rate'!$E$62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1"/>
              <c:tx>
                <c:strRef>
                  <c:f>'Keyphrases Weight and Rate'!$E$63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2"/>
              <c:tx>
                <c:strRef>
                  <c:f>'Keyphrases Weight and Rate'!$E$64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3"/>
              <c:tx>
                <c:strRef>
                  <c:f>'Keyphrases Weight and Rate'!$E$65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4"/>
              <c:tx>
                <c:strRef>
                  <c:f>'Keyphrases Weight and Rate'!$E$66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5"/>
              <c:tx>
                <c:strRef>
                  <c:f>'Keyphrases Weight and Rate'!$E$67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6"/>
              <c:tx>
                <c:strRef>
                  <c:f>'Keyphrases Weight and Rate'!$E$68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7"/>
              <c:tx>
                <c:strRef>
                  <c:f>'Keyphrases Weight and Rate'!$E$69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8"/>
              <c:tx>
                <c:strRef>
                  <c:f>'Keyphrases Weight and Rate'!$E$70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9"/>
              <c:tx>
                <c:strRef>
                  <c:f>'Keyphrases Weight and Rate'!$E$71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0"/>
              <c:tx>
                <c:strRef>
                  <c:f>'Keyphrases Weight and Rate'!$E$72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1"/>
              <c:tx>
                <c:strRef>
                  <c:f>'Keyphrases Weight and Rate'!$E$73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2"/>
              <c:tx>
                <c:strRef>
                  <c:f>'Keyphrases Weight and Rate'!$E$74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3"/>
              <c:tx>
                <c:strRef>
                  <c:f>'Keyphrases Weight and Rate'!$E$75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4"/>
              <c:tx>
                <c:strRef>
                  <c:f>'Keyphrases Weight and Rate'!$E$76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5"/>
              <c:tx>
                <c:strRef>
                  <c:f>'Keyphrases Weight and Rate'!$E$77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6"/>
              <c:tx>
                <c:strRef>
                  <c:f>'Keyphrases Weight and Rate'!$E$78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7"/>
              <c:tx>
                <c:strRef>
                  <c:f>'Keyphrases Weight and Rate'!$E$79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8"/>
              <c:tx>
                <c:strRef>
                  <c:f>'Keyphrases Weight and Rate'!$E$80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9"/>
              <c:tx>
                <c:strRef>
                  <c:f>'Keyphrases Weight and Rate'!$E$81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0"/>
              <c:tx>
                <c:strRef>
                  <c:f>'Keyphrases Weight and Rate'!$E$82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1"/>
              <c:tx>
                <c:strRef>
                  <c:f>'Keyphrases Weight and Rate'!$E$83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2"/>
              <c:tx>
                <c:strRef>
                  <c:f>'Keyphrases Weight and Rate'!$E$84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3"/>
              <c:tx>
                <c:strRef>
                  <c:f>'Keyphrases Weight and Rate'!$E$85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4"/>
              <c:tx>
                <c:strRef>
                  <c:f>'Keyphrases Weight and Rate'!$E$86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5"/>
              <c:tx>
                <c:strRef>
                  <c:f>'Keyphrases Weight and Rate'!$E$87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6"/>
              <c:tx>
                <c:strRef>
                  <c:f>'Keyphrases Weight and Rate'!$E$88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7"/>
              <c:tx>
                <c:strRef>
                  <c:f>'Keyphrases Weight and Rate'!$E$89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8"/>
              <c:tx>
                <c:strRef>
                  <c:f>'Keyphrases Weight and Rate'!$E$90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9"/>
              <c:tx>
                <c:strRef>
                  <c:f>'Keyphrases Weight and Rate'!$E$91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0"/>
              <c:tx>
                <c:strRef>
                  <c:f>'Keyphrases Weight and Rate'!$E$92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1"/>
              <c:tx>
                <c:strRef>
                  <c:f>'Keyphrases Weight and Rate'!$E$93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2"/>
              <c:tx>
                <c:strRef>
                  <c:f>'Keyphrases Weight and Rate'!$E$94</c:f>
                  <c:strCache>
                    <c:ptCount val="1"/>
                    <c:pt idx="0">
                      <c:v>1.00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3"/>
              <c:tx>
                <c:strRef>
                  <c:f>'Keyphrases Weight and Rate'!$E$95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4"/>
              <c:tx>
                <c:strRef>
                  <c:f>'Keyphrases Weight and Rate'!$E$96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5"/>
              <c:tx>
                <c:strRef>
                  <c:f>'Keyphrases Weight and Rate'!$E$97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6"/>
              <c:tx>
                <c:strRef>
                  <c:f>'Keyphrases Weight and Rate'!$E$98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7"/>
              <c:tx>
                <c:strRef>
                  <c:f>'Keyphrases Weight and Rate'!$E$99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8"/>
              <c:tx>
                <c:strRef>
                  <c:f>'Keyphrases Weight and Rate'!$E$100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9"/>
              <c:tx>
                <c:strRef>
                  <c:f>'Keyphrases Weight and Rate'!$E$101</c:f>
                  <c:strCache>
                    <c:ptCount val="1"/>
                    <c:pt idx="0">
                      <c:v>0.00</c:v>
                    </c:pt>
                  </c:strCache>
                </c:strRef>
              </c:tx>
              <c:txPr>
                <a:bodyPr/>
                <a:lstStyle/>
                <a:p>
                  <a:pPr lvl="0">
                    <a:defRPr b="0" i="0"/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60298527"/>
        <c:axId val="1"/>
      </c:barChart>
      <c:catAx>
        <c:axId val="660298527"/>
        <c:scaling>
          <c:orientation val="minMax"/>
        </c:scaling>
        <c:delete val="0"/>
        <c:axPos val="l"/>
        <c:crossAx val="1"/>
        <c:title>
          <c:tx>
            <c:rich>
              <a:bodyPr/>
              <a:lstStyle/>
              <a:p>
                <a:pPr lvl="0">
                  <a:defRPr b="0"/>
                </a:pPr>
                <a:r>
                  <a:t>Keyphrase</a:t>
                </a:r>
              </a:p>
            </c:rich>
          </c:tx>
          <c:overlay val="0"/>
        </c:title>
      </c:catAx>
      <c:valAx>
        <c:axId val="1"/>
        <c:scaling>
          <c:orientation val="minMax"/>
        </c:scaling>
        <c:delete val="0"/>
        <c:axPos val="b"/>
        <c:majorGridlines/>
        <c:crossAx val="660298527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Weight</a:t>
                </a:r>
              </a:p>
            </c:rich>
          </c:tx>
          <c:overlay val="0"/>
        </c:title>
      </c:valAx>
    </c:plotArea>
    <c:legend>
      <c:legendPos val="r"/>
      <c:overlay val="0"/>
    </c:legend>
    <c:showDLblsOverMax val="1"/>
  </c:chart>
  <c:externalData r:id="rId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Keyphrases by Weight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'Keyphrases by Weight'!$B$1</c:f>
              <c:strCache>
                <c:ptCount val="1"/>
                <c:pt idx="0">
                  <c:v>Weight</c:v>
                </c:pt>
              </c:strCache>
            </c:strRef>
          </c:tx>
          <c:invertIfNegative val="1"/>
          <c:cat>
            <c:strRef>
              <c:f>'Keyphrases by Weight'!$A$2:$A$101</c:f>
              <c:strCache>
                <c:ptCount val="100"/>
                <c:pt idx="0">
                  <c:v>Persons with Disabilities</c:v>
                </c:pt>
                <c:pt idx="1">
                  <c:v>accessibility and coordination mechanisms</c:v>
                </c:pt>
                <c:pt idx="2">
                  <c:v>inclusion for pwds</c:v>
                </c:pt>
                <c:pt idx="3">
                  <c:v>accessibility coordination mechanisms</c:v>
                </c:pt>
                <c:pt idx="4">
                  <c:v>content analysis</c:v>
                </c:pt>
                <c:pt idx="5">
                  <c:v>proof of delivery mechanized mailbox types</c:v>
                </c:pt>
                <c:pt idx="6">
                  <c:v>dds distribution design signature</c:v>
                </c:pt>
                <c:pt idx="7">
                  <c:v>redundant orchestration synthesis for contract automata</c:v>
                </c:pt>
                <c:pt idx="8">
                  <c:v>Federated Learning</c:v>
                </c:pt>
                <c:pt idx="9">
                  <c:v>formal verification of distributed data</c:v>
                </c:pt>
                <c:pt idx="10">
                  <c:v>reversible debugging on asynchronous channel</c:v>
                </c:pt>
                <c:pt idx="11">
                  <c:v>asynchronous channel based systems</c:v>
                </c:pt>
                <c:pt idx="12">
                  <c:v>maximum flow problem</c:v>
                </c:pt>
                <c:pt idx="13">
                  <c:v>positive and negative examples</c:v>
                </c:pt>
                <c:pt idx="14">
                  <c:v>Distributed Data-intensive</c:v>
                </c:pt>
                <c:pt idx="15">
                  <c:v>most permissive controller</c:v>
                </c:pt>
                <c:pt idx="16">
                  <c:v>aggregate push relabel algorithm</c:v>
                </c:pt>
                <c:pt idx="17">
                  <c:v>Computer Science</c:v>
                </c:pt>
                <c:pt idx="18">
                  <c:v>controllable and uncontrollable transitions</c:v>
                </c:pt>
                <c:pt idx="19">
                  <c:v>guard var</c:v>
                </c:pt>
                <c:pt idx="20">
                  <c:v>event logs</c:v>
                </c:pt>
                <c:pt idx="21">
                  <c:v>Object-Centric Petri Nets</c:v>
                </c:pt>
                <c:pt idx="22">
                  <c:v>programming pattern</c:v>
                </c:pt>
                <c:pt idx="23">
                  <c:v>Zero-shot</c:v>
                </c:pt>
                <c:pt idx="24">
                  <c:v>control loop</c:v>
                </c:pt>
                <c:pt idx="25">
                  <c:v>rebeca with llms</c:v>
                </c:pt>
                <c:pt idx="26">
                  <c:v>Machine Learning</c:v>
                </c:pt>
                <c:pt idx="27">
                  <c:v>model checking</c:v>
                </c:pt>
                <c:pt idx="28">
                  <c:v>Formal Verification</c:v>
                </c:pt>
                <c:pt idx="29">
                  <c:v>held as part</c:v>
                </c:pt>
                <c:pt idx="30">
                  <c:v>local process local db proxy</c:v>
                </c:pt>
                <c:pt idx="31">
                  <c:v>local process image provider proxy</c:v>
                </c:pt>
                <c:pt idx="32">
                  <c:v>permissive controller synthesis</c:v>
                </c:pt>
                <c:pt idx="33">
                  <c:v>Multi-agent models</c:v>
                </c:pt>
                <c:pt idx="34">
                  <c:v>Execution Scenarios</c:v>
                </c:pt>
                <c:pt idx="35">
                  <c:v>RPS Model</c:v>
                </c:pt>
                <c:pt idx="36">
                  <c:v>e e with positive and negative examples</c:v>
                </c:pt>
                <c:pt idx="37">
                  <c:v>typing rules</c:v>
                </c:pt>
                <c:pt idx="38">
                  <c:v>channel queues</c:v>
                </c:pt>
                <c:pt idx="39">
                  <c:v>list of principal contract automata</c:v>
                </c:pt>
                <c:pt idx="40">
                  <c:v>system configuration</c:v>
                </c:pt>
                <c:pt idx="41">
                  <c:v>Large Language Models</c:v>
                </c:pt>
                <c:pt idx="42">
                  <c:v>mailbox name</c:v>
                </c:pt>
                <c:pt idx="43">
                  <c:v>semi controllable transitions</c:v>
                </c:pt>
                <c:pt idx="44">
                  <c:v>splitting orchestration synthesis</c:v>
                </c:pt>
                <c:pt idx="45">
                  <c:v>Confusion Matrix</c:v>
                </c:pt>
                <c:pt idx="46">
                  <c:v>maximum flow computation</c:v>
                </c:pt>
                <c:pt idx="47">
                  <c:v>aggregate push relabel</c:v>
                </c:pt>
                <c:pt idx="48">
                  <c:v>natural language</c:v>
                </c:pt>
                <c:pt idx="49">
                  <c:v>image provider contract</c:v>
                </c:pt>
                <c:pt idx="50">
                  <c:v>path between source and sink</c:v>
                </c:pt>
                <c:pt idx="51">
                  <c:v>Object-Centric Process Mining</c:v>
                </c:pt>
                <c:pt idx="52">
                  <c:v>pattern normal form</c:v>
                </c:pt>
                <c:pt idx="53">
                  <c:v>Service Broker</c:v>
                </c:pt>
                <c:pt idx="54">
                  <c:v>adaptation contracts</c:v>
                </c:pt>
                <c:pt idx="55">
                  <c:v>controlled system</c:v>
                </c:pt>
                <c:pt idx="56">
                  <c:v>Distributed Execution</c:v>
                </c:pt>
                <c:pt idx="57">
                  <c:v>implications for distribution</c:v>
                </c:pt>
                <c:pt idx="58">
                  <c:v>type combinations</c:v>
                </c:pt>
                <c:pt idx="59">
                  <c:v>eclipse supervisory control engineering toolkit</c:v>
                </c:pt>
                <c:pt idx="60">
                  <c:v>augmenting path between source</c:v>
                </c:pt>
                <c:pt idx="61">
                  <c:v>channel-based communication</c:v>
                </c:pt>
                <c:pt idx="62">
                  <c:v>ter beek</c:v>
                </c:pt>
                <c:pt idx="63">
                  <c:v>Adaptation contract</c:v>
                </c:pt>
                <c:pt idx="64">
                  <c:v>adaptable service</c:v>
                </c:pt>
                <c:pt idx="65">
                  <c:v>source and sink with excess flow</c:v>
                </c:pt>
                <c:pt idx="66">
                  <c:v>centralized popper</c:v>
                </c:pt>
                <c:pt idx="67">
                  <c:v>federated inductive logic programming</c:v>
                </c:pt>
                <c:pt idx="68">
                  <c:v>invoice receipt</c:v>
                </c:pt>
                <c:pt idx="69">
                  <c:v>Answer Set Programming</c:v>
                </c:pt>
                <c:pt idx="70">
                  <c:v>computed answer substitution</c:v>
                </c:pt>
                <c:pt idx="71">
                  <c:v>horn clause program</c:v>
                </c:pt>
                <c:pt idx="72">
                  <c:v>complete and consistent</c:v>
                </c:pt>
                <c:pt idx="73">
                  <c:v>process configuration</c:v>
                </c:pt>
                <c:pt idx="74">
                  <c:v>history item</c:v>
                </c:pt>
                <c:pt idx="75">
                  <c:v>both actions</c:v>
                </c:pt>
                <c:pt idx="76">
                  <c:v>programming languages</c:v>
                </c:pt>
                <c:pt idx="77">
                  <c:v>mailbox type</c:v>
                </c:pt>
                <c:pt idx="78">
                  <c:v>visibility range</c:v>
                </c:pt>
                <c:pt idx="79">
                  <c:v>shared state and consistency constraints</c:v>
                </c:pt>
                <c:pt idx="80">
                  <c:v>max-flow</c:v>
                </c:pt>
                <c:pt idx="81">
                  <c:v>redundant formal methods</c:v>
                </c:pt>
                <c:pt idx="82">
                  <c:v>monitor update</c:v>
                </c:pt>
                <c:pt idx="83">
                  <c:v>session types</c:v>
                </c:pt>
                <c:pt idx="84">
                  <c:v>type combination</c:v>
                </c:pt>
                <c:pt idx="85">
                  <c:v>base types</c:v>
                </c:pt>
                <c:pt idx="86">
                  <c:v>environment subtyping</c:v>
                </c:pt>
                <c:pt idx="87">
                  <c:v>mailbox configurations</c:v>
                </c:pt>
                <c:pt idx="88">
                  <c:v>semantics of mailbox types</c:v>
                </c:pt>
                <c:pt idx="89">
                  <c:v>define atomic propositions</c:v>
                </c:pt>
                <c:pt idx="90">
                  <c:v>described by pattern</c:v>
                </c:pt>
                <c:pt idx="91">
                  <c:v>minimality of rollback and replay semantics</c:v>
                </c:pt>
                <c:pt idx="92">
                  <c:v>special delivery programming with mailbox types</c:v>
                </c:pt>
                <c:pt idx="93">
                  <c:v>sequence of history items</c:v>
                </c:pt>
                <c:pt idx="94">
                  <c:v>implicit context</c:v>
                </c:pt>
                <c:pt idx="95">
                  <c:v>maritime regulations</c:v>
                </c:pt>
                <c:pt idx="96">
                  <c:v>Shot Prompting</c:v>
                </c:pt>
                <c:pt idx="97">
                  <c:v>shot prompts</c:v>
                </c:pt>
                <c:pt idx="98">
                  <c:v>unbounded resources</c:v>
                </c:pt>
                <c:pt idx="99">
                  <c:v>rebeca reactive object language</c:v>
                </c:pt>
              </c:strCache>
            </c:strRef>
          </c:cat>
          <c:val>
            <c:numRef>
              <c:f>'Keyphrases by Weight'!$B$2:$B$101</c:f>
              <c:numCache>
                <c:formatCode>General</c:formatCode>
                <c:ptCount val="100"/>
                <c:pt idx="0">
                  <c:v>1000</c:v>
                </c:pt>
                <c:pt idx="1">
                  <c:v>851</c:v>
                </c:pt>
                <c:pt idx="2">
                  <c:v>660</c:v>
                </c:pt>
                <c:pt idx="3">
                  <c:v>660</c:v>
                </c:pt>
                <c:pt idx="4">
                  <c:v>638</c:v>
                </c:pt>
                <c:pt idx="5">
                  <c:v>436</c:v>
                </c:pt>
                <c:pt idx="6">
                  <c:v>420</c:v>
                </c:pt>
                <c:pt idx="7">
                  <c:v>388</c:v>
                </c:pt>
                <c:pt idx="8">
                  <c:v>377</c:v>
                </c:pt>
                <c:pt idx="9">
                  <c:v>334</c:v>
                </c:pt>
                <c:pt idx="10">
                  <c:v>324</c:v>
                </c:pt>
                <c:pt idx="11">
                  <c:v>301</c:v>
                </c:pt>
                <c:pt idx="12">
                  <c:v>299</c:v>
                </c:pt>
                <c:pt idx="13">
                  <c:v>295</c:v>
                </c:pt>
                <c:pt idx="14">
                  <c:v>289</c:v>
                </c:pt>
                <c:pt idx="15">
                  <c:v>286</c:v>
                </c:pt>
                <c:pt idx="16">
                  <c:v>275</c:v>
                </c:pt>
                <c:pt idx="17">
                  <c:v>266</c:v>
                </c:pt>
                <c:pt idx="18">
                  <c:v>241</c:v>
                </c:pt>
                <c:pt idx="19">
                  <c:v>239</c:v>
                </c:pt>
                <c:pt idx="20">
                  <c:v>235</c:v>
                </c:pt>
                <c:pt idx="21">
                  <c:v>235</c:v>
                </c:pt>
                <c:pt idx="22">
                  <c:v>234</c:v>
                </c:pt>
                <c:pt idx="23">
                  <c:v>232</c:v>
                </c:pt>
                <c:pt idx="24">
                  <c:v>226</c:v>
                </c:pt>
                <c:pt idx="25">
                  <c:v>225</c:v>
                </c:pt>
                <c:pt idx="26">
                  <c:v>213</c:v>
                </c:pt>
                <c:pt idx="27">
                  <c:v>209</c:v>
                </c:pt>
                <c:pt idx="28">
                  <c:v>207</c:v>
                </c:pt>
                <c:pt idx="29">
                  <c:v>203</c:v>
                </c:pt>
                <c:pt idx="30">
                  <c:v>194</c:v>
                </c:pt>
                <c:pt idx="31">
                  <c:v>194</c:v>
                </c:pt>
                <c:pt idx="32">
                  <c:v>190</c:v>
                </c:pt>
                <c:pt idx="33">
                  <c:v>186</c:v>
                </c:pt>
                <c:pt idx="34">
                  <c:v>184</c:v>
                </c:pt>
                <c:pt idx="35">
                  <c:v>184</c:v>
                </c:pt>
                <c:pt idx="36">
                  <c:v>184</c:v>
                </c:pt>
                <c:pt idx="37">
                  <c:v>183</c:v>
                </c:pt>
                <c:pt idx="38">
                  <c:v>183</c:v>
                </c:pt>
                <c:pt idx="39">
                  <c:v>175</c:v>
                </c:pt>
                <c:pt idx="40">
                  <c:v>172</c:v>
                </c:pt>
                <c:pt idx="41">
                  <c:v>170</c:v>
                </c:pt>
                <c:pt idx="42">
                  <c:v>169</c:v>
                </c:pt>
                <c:pt idx="43">
                  <c:v>166</c:v>
                </c:pt>
                <c:pt idx="44">
                  <c:v>166</c:v>
                </c:pt>
                <c:pt idx="45">
                  <c:v>164</c:v>
                </c:pt>
                <c:pt idx="46">
                  <c:v>163</c:v>
                </c:pt>
                <c:pt idx="47">
                  <c:v>163</c:v>
                </c:pt>
                <c:pt idx="48">
                  <c:v>161</c:v>
                </c:pt>
                <c:pt idx="49">
                  <c:v>159</c:v>
                </c:pt>
                <c:pt idx="50">
                  <c:v>158</c:v>
                </c:pt>
                <c:pt idx="51">
                  <c:v>157</c:v>
                </c:pt>
                <c:pt idx="52">
                  <c:v>155</c:v>
                </c:pt>
                <c:pt idx="53">
                  <c:v>151</c:v>
                </c:pt>
                <c:pt idx="54">
                  <c:v>151</c:v>
                </c:pt>
                <c:pt idx="55">
                  <c:v>150</c:v>
                </c:pt>
                <c:pt idx="56">
                  <c:v>144</c:v>
                </c:pt>
                <c:pt idx="57">
                  <c:v>144</c:v>
                </c:pt>
                <c:pt idx="58">
                  <c:v>141</c:v>
                </c:pt>
                <c:pt idx="59">
                  <c:v>138</c:v>
                </c:pt>
                <c:pt idx="60">
                  <c:v>137</c:v>
                </c:pt>
                <c:pt idx="61">
                  <c:v>135</c:v>
                </c:pt>
                <c:pt idx="62">
                  <c:v>135</c:v>
                </c:pt>
                <c:pt idx="63">
                  <c:v>134</c:v>
                </c:pt>
                <c:pt idx="64">
                  <c:v>134</c:v>
                </c:pt>
                <c:pt idx="65">
                  <c:v>132</c:v>
                </c:pt>
                <c:pt idx="66">
                  <c:v>131</c:v>
                </c:pt>
                <c:pt idx="67">
                  <c:v>131</c:v>
                </c:pt>
                <c:pt idx="68">
                  <c:v>131</c:v>
                </c:pt>
                <c:pt idx="69">
                  <c:v>129</c:v>
                </c:pt>
                <c:pt idx="70">
                  <c:v>129</c:v>
                </c:pt>
                <c:pt idx="71">
                  <c:v>129</c:v>
                </c:pt>
                <c:pt idx="72">
                  <c:v>129</c:v>
                </c:pt>
                <c:pt idx="73">
                  <c:v>129</c:v>
                </c:pt>
                <c:pt idx="74">
                  <c:v>129</c:v>
                </c:pt>
                <c:pt idx="75">
                  <c:v>129</c:v>
                </c:pt>
                <c:pt idx="76">
                  <c:v>127</c:v>
                </c:pt>
                <c:pt idx="77">
                  <c:v>127</c:v>
                </c:pt>
                <c:pt idx="78">
                  <c:v>125</c:v>
                </c:pt>
                <c:pt idx="79">
                  <c:v>121</c:v>
                </c:pt>
                <c:pt idx="80">
                  <c:v>120</c:v>
                </c:pt>
                <c:pt idx="81">
                  <c:v>119</c:v>
                </c:pt>
                <c:pt idx="82">
                  <c:v>117</c:v>
                </c:pt>
                <c:pt idx="83">
                  <c:v>113</c:v>
                </c:pt>
                <c:pt idx="84">
                  <c:v>113</c:v>
                </c:pt>
                <c:pt idx="85">
                  <c:v>113</c:v>
                </c:pt>
                <c:pt idx="86">
                  <c:v>113</c:v>
                </c:pt>
                <c:pt idx="87">
                  <c:v>113</c:v>
                </c:pt>
                <c:pt idx="88">
                  <c:v>113</c:v>
                </c:pt>
                <c:pt idx="89">
                  <c:v>112</c:v>
                </c:pt>
                <c:pt idx="90">
                  <c:v>111</c:v>
                </c:pt>
                <c:pt idx="91">
                  <c:v>111</c:v>
                </c:pt>
                <c:pt idx="92">
                  <c:v>108</c:v>
                </c:pt>
                <c:pt idx="93">
                  <c:v>107</c:v>
                </c:pt>
                <c:pt idx="94">
                  <c:v>107</c:v>
                </c:pt>
                <c:pt idx="95">
                  <c:v>107</c:v>
                </c:pt>
                <c:pt idx="96">
                  <c:v>107</c:v>
                </c:pt>
                <c:pt idx="97">
                  <c:v>107</c:v>
                </c:pt>
                <c:pt idx="98">
                  <c:v>107</c:v>
                </c:pt>
                <c:pt idx="99">
                  <c:v>107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Keyphrase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Weight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New Submissions by Date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'Submissions by Date'!$B$1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'Submissions by Date'!$A$2:$A$12</c:f>
              <c:strCache>
                <c:ptCount val="11"/>
                <c:pt idx="0">
                  <c:v>Nov 27</c:v>
                </c:pt>
                <c:pt idx="1">
                  <c:v>Jan 26</c:v>
                </c:pt>
                <c:pt idx="2">
                  <c:v>Jan 27</c:v>
                </c:pt>
                <c:pt idx="3">
                  <c:v>Jan 28</c:v>
                </c:pt>
                <c:pt idx="4">
                  <c:v>Jan 29</c:v>
                </c:pt>
                <c:pt idx="5">
                  <c:v>Jan 30</c:v>
                </c:pt>
                <c:pt idx="6">
                  <c:v>Jan 31</c:v>
                </c:pt>
                <c:pt idx="7">
                  <c:v>Feb 02</c:v>
                </c:pt>
                <c:pt idx="8">
                  <c:v>Feb 03</c:v>
                </c:pt>
                <c:pt idx="9">
                  <c:v>Feb 13</c:v>
                </c:pt>
                <c:pt idx="10">
                  <c:v>Feb 20</c:v>
                </c:pt>
              </c:strCache>
            </c:strRef>
          </c:cat>
          <c:val>
            <c:numRef>
              <c:f>'Submissions by Date'!$B$2:$B$12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9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Date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Submissions Per Author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'Submissions Per Author'!$B$1</c:f>
              <c:strCache>
                <c:ptCount val="1"/>
                <c:pt idx="0">
                  <c:v>Authors</c:v>
                </c:pt>
              </c:strCache>
            </c:strRef>
          </c:tx>
          <c:invertIfNegative val="1"/>
          <c:cat>
            <c:strRef>
              <c:f>'Submissions Per Author'!$A$2:$A$4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'Submissions Per Author'!$B$2:$B$4</c:f>
              <c:numCache>
                <c:formatCode>General</c:formatCode>
                <c:ptCount val="3"/>
                <c:pt idx="0">
                  <c:v>67</c:v>
                </c:pt>
                <c:pt idx="1">
                  <c:v>11</c:v>
                </c:pt>
                <c:pt idx="2">
                  <c:v>1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Authors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c16r2="http://schemas.microsoft.com/office/drawing/2015/06/chart" xmlns:r="http://schemas.openxmlformats.org/officeDocument/2006/relationships"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Number of Authors Per Submission</a:t>
            </a:r>
          </a:p>
        </c:rich>
      </c:tx>
      <c:overlay val="0"/>
    </c:title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'Authors Per Submission'!$B$1</c:f>
              <c:strCache>
                <c:ptCount val="1"/>
                <c:pt idx="0">
                  <c:v>Submissions</c:v>
                </c:pt>
              </c:strCache>
            </c:strRef>
          </c:tx>
          <c:invertIfNegative val="1"/>
          <c:cat>
            <c:strRef>
              <c:f>'Authors Per Submission'!$A$2:$A$7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strCache>
            </c:strRef>
          </c:cat>
          <c:val>
            <c:numRef>
              <c:f>'Authors Per Submission'!$B$2:$B$7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10</c:v>
                </c:pt>
                <c:pt idx="3">
                  <c:v>8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"/>
        <c:axId val="660298527"/>
      </c:barChart>
      <c:catAx>
        <c:axId val="1"/>
        <c:scaling>
          <c:orientation val="minMax"/>
        </c:scaling>
        <c:delete val="0"/>
        <c:axPos val="l"/>
        <c:crossAx val="660298527"/>
        <c:title>
          <c:tx>
            <c:rich>
              <a:bodyPr/>
              <a:lstStyle/>
              <a:p>
                <a:pPr lvl="0">
                  <a:defRPr b="0"/>
                </a:pPr>
                <a:r>
                  <a:t>Authors</a:t>
                </a:r>
              </a:p>
            </c:rich>
          </c:tx>
          <c:overlay val="0"/>
        </c:title>
      </c:catAx>
      <c:valAx>
        <c:axId val="660298527"/>
        <c:scaling>
          <c:orientation val="minMax"/>
        </c:scaling>
        <c:delete val="0"/>
        <c:axPos val="b"/>
        <c:majorGridlines/>
        <c:crossAx val="1"/>
        <c:crosses val="autoZero"/>
        <c:title>
          <c:tx>
            <c:rich>
              <a:bodyPr/>
              <a:lstStyle/>
              <a:p>
                <a:pPr lvl="0">
                  <a:defRPr b="0"/>
                </a:pPr>
                <a:r>
                  <a:t>Submissions</a:t>
                </a:r>
              </a:p>
            </c:rich>
          </c:tx>
          <c:overlay val="0"/>
        </c:title>
      </c:valAx>
    </c:plotArea>
    <c:showDLblsOverMax val="1"/>
  </c:chart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92F3-DBDE-6343-844A-EDD28C26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7674-D88A-314C-A878-DA89E991A7D2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0FDF96CE-E070-7C4F-B25F-AEA29CCDF0F7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11" Target="../slideLayouts/slideLayout11.xml" Type="http://schemas.openxmlformats.org/officeDocument/2006/relationships/slideLayout"/><Relationship Id="rId10" Target="../slideLayouts/slideLayout10.xml" Type="http://schemas.openxmlformats.org/officeDocument/2006/relationships/slideLayout"/><Relationship Id="rId12" Target="../theme/theme1.xml" Type="http://schemas.openxmlformats.org/officeDocument/2006/relationships/theme"/><Relationship Id="rId9" Target="../slideLayouts/slideLayout9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F96CE-E070-7C4F-B25F-AEA29CCDF0F7}" type="datetimeFigureOut">
              <a:rPr lang="en-US" smtClean="0"/>
              <a:t>10/18/19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9FA2D-2A7E-F447-BEAC-03A1BBAF97A6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3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4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3.xml" Type="http://schemas.openxmlformats.org/officeDocument/2006/relationships/chart"/></Relationships>
</file>

<file path=ppt/slides/_rels/slide5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4.xml" Type="http://schemas.openxmlformats.org/officeDocument/2006/relationships/chart"/></Relationships>
</file>

<file path=ppt/slides/_rels/slide6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5.xml" Type="http://schemas.openxmlformats.org/officeDocument/2006/relationships/chart"/></Relationships>
</file>

<file path=ppt/slides/_rels/slide7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6.xml" Type="http://schemas.openxmlformats.org/officeDocument/2006/relationships/chart"/></Relationships>
</file>

<file path=ppt/slides/_rels/slide8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7.xml" Type="http://schemas.openxmlformats.org/officeDocument/2006/relationships/chart"/></Relationships>
</file>

<file path=ppt/slides/_rels/slide9.xml.rels><?xml version="1.0" encoding="UTF-8" standalone="yes"?>
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8.xml" Type="http://schemas.openxmlformats.org/officeDocument/2006/relationships/chart"/></Relationships>
</file>

<file path=ppt/slides/slide1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asyChair Shape;54;p13"/>
          <p:cNvSpPr txBox="1"/>
          <p:nvPr>
            <p:ph idx="0" type="subTitle"/>
          </p:nvPr>
        </p:nvSpPr>
        <p:spPr/>
        <p:txBody>
          <a:bodyPr anchor="b" anchorCtr="0" bIns="91425" lIns="91425" rIns="91425" spcFirstLastPara="1" tIns="91425" wrap="square">
            <a:noAutofit/>
          </a:bodyPr>
          <a:lstStyle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</a:t>
            </a:r>
            <a:endParaRPr/>
          </a:p>
        </p:txBody>
      </p:sp>
      <p:sp>
        <p:nvSpPr>
          <p:cNvPr id="55" name="EasyChair Shape;55;p13"/>
          <p:cNvSpPr txBox="1"/>
          <p:nvPr>
            <p:ph idx="1" type="subTitle"/>
          </p:nvPr>
        </p:nvSpPr>
        <p:spPr/>
        <p:txBody>
          <a:bodyPr anchor="t" anchorCtr="0" bIns="91425" lIns="91425" rIns="91425" spcFirstLastPara="1" tIns="91425" wrap="square">
            <a:noAutofit/>
          </a:bodyPr>
          <a:lstStyle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by EasyChair for COORDINATION 2026 (COORDINATION 2026 Main Track)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Chart 56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Chart 57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Chart 58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Chart 59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Chart 60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61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62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63"/>
          <p:cNvGraphicFramePr/>
          <p:nvPr/>
        </p:nvGraphicFramePr>
        <p:xfrm>
          <a:off x="609600" y="342900"/>
          <a:ext cx="103632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0F0502020204030204"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